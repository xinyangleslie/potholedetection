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6"/>
  </p:notesMasterIdLst>
  <p:sldIdLst>
    <p:sldId id="358" r:id="rId5"/>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1D4780"/>
    <a:srgbClr val="214982"/>
    <a:srgbClr val="0736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21" autoAdjust="0"/>
    <p:restoredTop sz="94179" autoAdjust="0"/>
  </p:normalViewPr>
  <p:slideViewPr>
    <p:cSldViewPr snapToGrid="0">
      <p:cViewPr varScale="1">
        <p:scale>
          <a:sx n="22" d="100"/>
          <a:sy n="22" d="100"/>
        </p:scale>
        <p:origin x="490"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yang Zhang" userId="S::zhangxi24@udmercy.edu::275c6420-31b2-4dc5-b764-dc516542ca8c" providerId="AD" clId="Web-{4956D696-D0BF-4ECB-894D-A130CE24F97B}"/>
    <pc:docChg chg="modSld">
      <pc:chgData name="Xinyang Zhang" userId="S::zhangxi24@udmercy.edu::275c6420-31b2-4dc5-b764-dc516542ca8c" providerId="AD" clId="Web-{4956D696-D0BF-4ECB-894D-A130CE24F97B}" dt="2026-03-31T23:45:42.559" v="91"/>
      <pc:docMkLst>
        <pc:docMk/>
      </pc:docMkLst>
      <pc:sldChg chg="addSp delSp modSp">
        <pc:chgData name="Xinyang Zhang" userId="S::zhangxi24@udmercy.edu::275c6420-31b2-4dc5-b764-dc516542ca8c" providerId="AD" clId="Web-{4956D696-D0BF-4ECB-894D-A130CE24F97B}" dt="2026-03-31T23:45:42.559" v="91"/>
        <pc:sldMkLst>
          <pc:docMk/>
          <pc:sldMk cId="664564367" sldId="358"/>
        </pc:sldMkLst>
        <pc:picChg chg="mod">
          <ac:chgData name="Xinyang Zhang" userId="S::zhangxi24@udmercy.edu::275c6420-31b2-4dc5-b764-dc516542ca8c" providerId="AD" clId="Web-{4956D696-D0BF-4ECB-894D-A130CE24F97B}" dt="2026-03-31T23:18:51.871" v="28" actId="1076"/>
          <ac:picMkLst>
            <pc:docMk/>
            <pc:sldMk cId="664564367" sldId="358"/>
            <ac:picMk id="3" creationId="{334EEB0C-C9EA-38CD-E842-4B295EE82536}"/>
          </ac:picMkLst>
        </pc:picChg>
        <pc:picChg chg="add mod topLvl">
          <ac:chgData name="Xinyang Zhang" userId="S::zhangxi24@udmercy.edu::275c6420-31b2-4dc5-b764-dc516542ca8c" providerId="AD" clId="Web-{4956D696-D0BF-4ECB-894D-A130CE24F97B}" dt="2026-03-31T23:45:42.559" v="91"/>
          <ac:picMkLst>
            <pc:docMk/>
            <pc:sldMk cId="664564367" sldId="358"/>
            <ac:picMk id="4" creationId="{29C3FD73-1538-80EF-305A-AC27F6135B58}"/>
          </ac:picMkLst>
        </pc:picChg>
        <pc:picChg chg="add mod topLvl">
          <ac:chgData name="Xinyang Zhang" userId="S::zhangxi24@udmercy.edu::275c6420-31b2-4dc5-b764-dc516542ca8c" providerId="AD" clId="Web-{4956D696-D0BF-4ECB-894D-A130CE24F97B}" dt="2026-03-31T23:45:42.559" v="91"/>
          <ac:picMkLst>
            <pc:docMk/>
            <pc:sldMk cId="664564367" sldId="358"/>
            <ac:picMk id="13" creationId="{3EABCDE1-2B7F-6D3C-8FA7-7BFF43B5B312}"/>
          </ac:picMkLst>
        </pc:picChg>
        <pc:picChg chg="mod topLvl">
          <ac:chgData name="Xinyang Zhang" userId="S::zhangxi24@udmercy.edu::275c6420-31b2-4dc5-b764-dc516542ca8c" providerId="AD" clId="Web-{4956D696-D0BF-4ECB-894D-A130CE24F97B}" dt="2026-03-31T23:45:42.559" v="91"/>
          <ac:picMkLst>
            <pc:docMk/>
            <pc:sldMk cId="664564367" sldId="358"/>
            <ac:picMk id="37" creationId="{4C648DA2-BE84-DEEB-BA9C-9064DC602E72}"/>
          </ac:picMkLst>
        </pc:picChg>
      </pc:sldChg>
    </pc:docChg>
  </pc:docChgLst>
  <pc:docChgLst>
    <pc:chgData name="Osama Najeeb" userId="S::onajeeb@udmercy.edu::e2abcd37-a943-418d-80fe-340a6ef437d6" providerId="AD" clId="Web-{1EA0E879-C7F5-3558-EF67-E705C3000B36}"/>
    <pc:docChg chg="modSld">
      <pc:chgData name="Osama Najeeb" userId="S::onajeeb@udmercy.edu::e2abcd37-a943-418d-80fe-340a6ef437d6" providerId="AD" clId="Web-{1EA0E879-C7F5-3558-EF67-E705C3000B36}" dt="2026-03-31T21:52:00.728" v="5" actId="1076"/>
      <pc:docMkLst>
        <pc:docMk/>
      </pc:docMkLst>
      <pc:sldChg chg="addSp delSp modSp">
        <pc:chgData name="Osama Najeeb" userId="S::onajeeb@udmercy.edu::e2abcd37-a943-418d-80fe-340a6ef437d6" providerId="AD" clId="Web-{1EA0E879-C7F5-3558-EF67-E705C3000B36}" dt="2026-03-31T21:52:00.728" v="5" actId="1076"/>
        <pc:sldMkLst>
          <pc:docMk/>
          <pc:sldMk cId="664564367" sldId="358"/>
        </pc:sldMkLst>
        <pc:picChg chg="add mod">
          <ac:chgData name="Osama Najeeb" userId="S::onajeeb@udmercy.edu::e2abcd37-a943-418d-80fe-340a6ef437d6" providerId="AD" clId="Web-{1EA0E879-C7F5-3558-EF67-E705C3000B36}" dt="2026-03-31T21:52:00.728" v="5" actId="1076"/>
          <ac:picMkLst>
            <pc:docMk/>
            <pc:sldMk cId="664564367" sldId="358"/>
            <ac:picMk id="3" creationId="{334EEB0C-C9EA-38CD-E842-4B295EE82536}"/>
          </ac:picMkLst>
        </pc:picChg>
      </pc:sldChg>
    </pc:docChg>
  </pc:docChgLst>
  <pc:docChgLst>
    <pc:chgData name="Xinyang Zhang" userId="275c6420-31b2-4dc5-b764-dc516542ca8c" providerId="ADAL" clId="{E24C9FEF-1B10-47A8-BBC8-248E381830D3}"/>
    <pc:docChg chg="delSld">
      <pc:chgData name="Xinyang Zhang" userId="275c6420-31b2-4dc5-b764-dc516542ca8c" providerId="ADAL" clId="{E24C9FEF-1B10-47A8-BBC8-248E381830D3}" dt="2026-04-03T06:10:46.161" v="0" actId="2696"/>
      <pc:docMkLst>
        <pc:docMk/>
      </pc:docMkLst>
      <pc:sldChg chg="del">
        <pc:chgData name="Xinyang Zhang" userId="275c6420-31b2-4dc5-b764-dc516542ca8c" providerId="ADAL" clId="{E24C9FEF-1B10-47A8-BBC8-248E381830D3}" dt="2026-04-03T06:10:46.161" v="0" actId="2696"/>
        <pc:sldMkLst>
          <pc:docMk/>
          <pc:sldMk cId="808357745" sldId="359"/>
        </pc:sldMkLst>
      </pc:sldChg>
    </pc:docChg>
  </pc:docChgLst>
  <pc:docChgLst>
    <pc:chgData name="Xinyang Zhang" userId="275c6420-31b2-4dc5-b764-dc516542ca8c" providerId="ADAL" clId="{009921BB-FF79-4BDD-9C4A-A8042FA25AF1}"/>
    <pc:docChg chg="undo custSel modSld">
      <pc:chgData name="Xinyang Zhang" userId="275c6420-31b2-4dc5-b764-dc516542ca8c" providerId="ADAL" clId="{009921BB-FF79-4BDD-9C4A-A8042FA25AF1}" dt="2026-03-31T18:02:50.073" v="271" actId="1076"/>
      <pc:docMkLst>
        <pc:docMk/>
      </pc:docMkLst>
      <pc:sldChg chg="addSp delSp modSp mod">
        <pc:chgData name="Xinyang Zhang" userId="275c6420-31b2-4dc5-b764-dc516542ca8c" providerId="ADAL" clId="{009921BB-FF79-4BDD-9C4A-A8042FA25AF1}" dt="2026-03-31T18:02:50.073" v="271" actId="1076"/>
        <pc:sldMkLst>
          <pc:docMk/>
          <pc:sldMk cId="664564367" sldId="358"/>
        </pc:sldMkLst>
        <pc:spChg chg="mod">
          <ac:chgData name="Xinyang Zhang" userId="275c6420-31b2-4dc5-b764-dc516542ca8c" providerId="ADAL" clId="{009921BB-FF79-4BDD-9C4A-A8042FA25AF1}" dt="2026-03-31T17:40:07.008" v="246" actId="1076"/>
          <ac:spMkLst>
            <pc:docMk/>
            <pc:sldMk cId="664564367" sldId="358"/>
            <ac:spMk id="10" creationId="{BAB9E0FB-871F-C4A9-A796-CFF4F435F3EB}"/>
          </ac:spMkLst>
        </pc:spChg>
        <pc:spChg chg="mod">
          <ac:chgData name="Xinyang Zhang" userId="275c6420-31b2-4dc5-b764-dc516542ca8c" providerId="ADAL" clId="{009921BB-FF79-4BDD-9C4A-A8042FA25AF1}" dt="2026-03-31T17:33:35.485" v="183" actId="1076"/>
          <ac:spMkLst>
            <pc:docMk/>
            <pc:sldMk cId="664564367" sldId="358"/>
            <ac:spMk id="12" creationId="{C03EF943-43C9-A0C5-1218-D27A3FFC0483}"/>
          </ac:spMkLst>
        </pc:spChg>
        <pc:spChg chg="mod">
          <ac:chgData name="Xinyang Zhang" userId="275c6420-31b2-4dc5-b764-dc516542ca8c" providerId="ADAL" clId="{009921BB-FF79-4BDD-9C4A-A8042FA25AF1}" dt="2026-03-31T17:44:34.996" v="255" actId="1076"/>
          <ac:spMkLst>
            <pc:docMk/>
            <pc:sldMk cId="664564367" sldId="358"/>
            <ac:spMk id="27" creationId="{B974BC5F-E9C0-D951-DBD9-3FA92989FE07}"/>
          </ac:spMkLst>
        </pc:spChg>
        <pc:spChg chg="mod">
          <ac:chgData name="Xinyang Zhang" userId="275c6420-31b2-4dc5-b764-dc516542ca8c" providerId="ADAL" clId="{009921BB-FF79-4BDD-9C4A-A8042FA25AF1}" dt="2026-03-31T17:44:34.996" v="255" actId="1076"/>
          <ac:spMkLst>
            <pc:docMk/>
            <pc:sldMk cId="664564367" sldId="358"/>
            <ac:spMk id="28" creationId="{9E7EB782-F8BF-CFFC-3D21-D564D344889F}"/>
          </ac:spMkLst>
        </pc:spChg>
        <pc:spChg chg="mod">
          <ac:chgData name="Xinyang Zhang" userId="275c6420-31b2-4dc5-b764-dc516542ca8c" providerId="ADAL" clId="{009921BB-FF79-4BDD-9C4A-A8042FA25AF1}" dt="2026-03-31T17:35:07.053" v="200" actId="1076"/>
          <ac:spMkLst>
            <pc:docMk/>
            <pc:sldMk cId="664564367" sldId="358"/>
            <ac:spMk id="29" creationId="{43E1BEFE-5F45-49F2-2ACB-E9851B4E901C}"/>
          </ac:spMkLst>
        </pc:spChg>
        <pc:spChg chg="mod">
          <ac:chgData name="Xinyang Zhang" userId="275c6420-31b2-4dc5-b764-dc516542ca8c" providerId="ADAL" clId="{009921BB-FF79-4BDD-9C4A-A8042FA25AF1}" dt="2026-03-31T17:35:07.053" v="200" actId="1076"/>
          <ac:spMkLst>
            <pc:docMk/>
            <pc:sldMk cId="664564367" sldId="358"/>
            <ac:spMk id="30" creationId="{4F277688-92AA-C7FE-04B8-BE55576CBC3C}"/>
          </ac:spMkLst>
        </pc:spChg>
        <pc:spChg chg="mod">
          <ac:chgData name="Xinyang Zhang" userId="275c6420-31b2-4dc5-b764-dc516542ca8c" providerId="ADAL" clId="{009921BB-FF79-4BDD-9C4A-A8042FA25AF1}" dt="2026-03-31T17:19:38.296" v="97" actId="1076"/>
          <ac:spMkLst>
            <pc:docMk/>
            <pc:sldMk cId="664564367" sldId="358"/>
            <ac:spMk id="31" creationId="{11159F73-4BC2-6E6D-6BA5-57C20AA47B36}"/>
          </ac:spMkLst>
        </pc:spChg>
        <pc:spChg chg="mod">
          <ac:chgData name="Xinyang Zhang" userId="275c6420-31b2-4dc5-b764-dc516542ca8c" providerId="ADAL" clId="{009921BB-FF79-4BDD-9C4A-A8042FA25AF1}" dt="2026-03-31T16:32:16.837" v="3" actId="1076"/>
          <ac:spMkLst>
            <pc:docMk/>
            <pc:sldMk cId="664564367" sldId="358"/>
            <ac:spMk id="32" creationId="{BFE7B188-5424-EC60-E382-EFD9F0226EA3}"/>
          </ac:spMkLst>
        </pc:spChg>
        <pc:spChg chg="mod">
          <ac:chgData name="Xinyang Zhang" userId="275c6420-31b2-4dc5-b764-dc516542ca8c" providerId="ADAL" clId="{009921BB-FF79-4BDD-9C4A-A8042FA25AF1}" dt="2026-03-31T17:41:06.139" v="250" actId="113"/>
          <ac:spMkLst>
            <pc:docMk/>
            <pc:sldMk cId="664564367" sldId="358"/>
            <ac:spMk id="39" creationId="{6D20601A-419E-9096-558D-0F9B89506648}"/>
          </ac:spMkLst>
        </pc:spChg>
        <pc:spChg chg="mod">
          <ac:chgData name="Xinyang Zhang" userId="275c6420-31b2-4dc5-b764-dc516542ca8c" providerId="ADAL" clId="{009921BB-FF79-4BDD-9C4A-A8042FA25AF1}" dt="2026-03-31T18:01:38.599" v="268" actId="404"/>
          <ac:spMkLst>
            <pc:docMk/>
            <pc:sldMk cId="664564367" sldId="358"/>
            <ac:spMk id="44" creationId="{9260E1B2-F3E4-C5FC-0777-7FEC74AC5DF7}"/>
          </ac:spMkLst>
        </pc:spChg>
        <pc:spChg chg="mod">
          <ac:chgData name="Xinyang Zhang" userId="275c6420-31b2-4dc5-b764-dc516542ca8c" providerId="ADAL" clId="{009921BB-FF79-4BDD-9C4A-A8042FA25AF1}" dt="2026-03-31T18:02:33.844" v="270" actId="1076"/>
          <ac:spMkLst>
            <pc:docMk/>
            <pc:sldMk cId="664564367" sldId="358"/>
            <ac:spMk id="46" creationId="{5DBBD3B3-C11B-7766-4370-D84D4BD5B5A1}"/>
          </ac:spMkLst>
        </pc:spChg>
        <pc:spChg chg="mod">
          <ac:chgData name="Xinyang Zhang" userId="275c6420-31b2-4dc5-b764-dc516542ca8c" providerId="ADAL" clId="{009921BB-FF79-4BDD-9C4A-A8042FA25AF1}" dt="2026-03-31T17:32:15.816" v="167" actId="1076"/>
          <ac:spMkLst>
            <pc:docMk/>
            <pc:sldMk cId="664564367" sldId="358"/>
            <ac:spMk id="47" creationId="{3BEF7CCE-F111-95FC-7B60-C97F96B499AF}"/>
          </ac:spMkLst>
        </pc:spChg>
        <pc:spChg chg="mod">
          <ac:chgData name="Xinyang Zhang" userId="275c6420-31b2-4dc5-b764-dc516542ca8c" providerId="ADAL" clId="{009921BB-FF79-4BDD-9C4A-A8042FA25AF1}" dt="2026-03-31T17:08:12.466" v="37" actId="1076"/>
          <ac:spMkLst>
            <pc:docMk/>
            <pc:sldMk cId="664564367" sldId="358"/>
            <ac:spMk id="58" creationId="{07B30694-E87E-5630-6AEB-6272DD0B8696}"/>
          </ac:spMkLst>
        </pc:spChg>
        <pc:spChg chg="mod">
          <ac:chgData name="Xinyang Zhang" userId="275c6420-31b2-4dc5-b764-dc516542ca8c" providerId="ADAL" clId="{009921BB-FF79-4BDD-9C4A-A8042FA25AF1}" dt="2026-03-31T17:35:26.881" v="203" actId="20577"/>
          <ac:spMkLst>
            <pc:docMk/>
            <pc:sldMk cId="664564367" sldId="358"/>
            <ac:spMk id="61" creationId="{18048C40-B5C1-9D58-C8CC-30C5A67C1308}"/>
          </ac:spMkLst>
        </pc:spChg>
        <pc:spChg chg="mod">
          <ac:chgData name="Xinyang Zhang" userId="275c6420-31b2-4dc5-b764-dc516542ca8c" providerId="ADAL" clId="{009921BB-FF79-4BDD-9C4A-A8042FA25AF1}" dt="2026-03-31T17:44:34.996" v="255" actId="1076"/>
          <ac:spMkLst>
            <pc:docMk/>
            <pc:sldMk cId="664564367" sldId="358"/>
            <ac:spMk id="71" creationId="{3827F0FD-5F48-31B7-19AE-02AE0C9467AA}"/>
          </ac:spMkLst>
        </pc:spChg>
        <pc:spChg chg="mod">
          <ac:chgData name="Xinyang Zhang" userId="275c6420-31b2-4dc5-b764-dc516542ca8c" providerId="ADAL" clId="{009921BB-FF79-4BDD-9C4A-A8042FA25AF1}" dt="2026-03-31T17:27:37.124" v="153" actId="1076"/>
          <ac:spMkLst>
            <pc:docMk/>
            <pc:sldMk cId="664564367" sldId="358"/>
            <ac:spMk id="77" creationId="{3E26245C-049E-2D85-1427-E4EDD1B6B771}"/>
          </ac:spMkLst>
        </pc:spChg>
        <pc:spChg chg="mod">
          <ac:chgData name="Xinyang Zhang" userId="275c6420-31b2-4dc5-b764-dc516542ca8c" providerId="ADAL" clId="{009921BB-FF79-4BDD-9C4A-A8042FA25AF1}" dt="2026-03-31T17:14:44.723" v="76" actId="20577"/>
          <ac:spMkLst>
            <pc:docMk/>
            <pc:sldMk cId="664564367" sldId="358"/>
            <ac:spMk id="120" creationId="{1F853EFC-19F6-7D2C-16E5-BD89EDCCF056}"/>
          </ac:spMkLst>
        </pc:spChg>
        <pc:spChg chg="mod">
          <ac:chgData name="Xinyang Zhang" userId="275c6420-31b2-4dc5-b764-dc516542ca8c" providerId="ADAL" clId="{009921BB-FF79-4BDD-9C4A-A8042FA25AF1}" dt="2026-03-31T17:09:43.043" v="54"/>
          <ac:spMkLst>
            <pc:docMk/>
            <pc:sldMk cId="664564367" sldId="358"/>
            <ac:spMk id="123" creationId="{628F4CB8-67B0-7B20-C7F4-DE251030CC8A}"/>
          </ac:spMkLst>
        </pc:spChg>
        <pc:grpChg chg="mod">
          <ac:chgData name="Xinyang Zhang" userId="275c6420-31b2-4dc5-b764-dc516542ca8c" providerId="ADAL" clId="{009921BB-FF79-4BDD-9C4A-A8042FA25AF1}" dt="2026-03-31T17:15:59.309" v="79" actId="1076"/>
          <ac:grpSpMkLst>
            <pc:docMk/>
            <pc:sldMk cId="664564367" sldId="358"/>
            <ac:grpSpMk id="17" creationId="{8AD3174F-C667-A1FE-1674-10887C410E1B}"/>
          </ac:grpSpMkLst>
        </pc:grpChg>
        <pc:grpChg chg="mod">
          <ac:chgData name="Xinyang Zhang" userId="275c6420-31b2-4dc5-b764-dc516542ca8c" providerId="ADAL" clId="{009921BB-FF79-4BDD-9C4A-A8042FA25AF1}" dt="2026-03-31T17:44:34.996" v="255" actId="1076"/>
          <ac:grpSpMkLst>
            <pc:docMk/>
            <pc:sldMk cId="664564367" sldId="358"/>
            <ac:grpSpMk id="24" creationId="{26F06341-512E-90BC-1A9A-F1268FA28689}"/>
          </ac:grpSpMkLst>
        </pc:grpChg>
        <pc:grpChg chg="mod">
          <ac:chgData name="Xinyang Zhang" userId="275c6420-31b2-4dc5-b764-dc516542ca8c" providerId="ADAL" clId="{009921BB-FF79-4BDD-9C4A-A8042FA25AF1}" dt="2026-03-31T17:35:07.053" v="200" actId="1076"/>
          <ac:grpSpMkLst>
            <pc:docMk/>
            <pc:sldMk cId="664564367" sldId="358"/>
            <ac:grpSpMk id="41" creationId="{78D8BD76-72D3-D71E-12CB-3F15D97E80F3}"/>
          </ac:grpSpMkLst>
        </pc:grpChg>
        <pc:grpChg chg="mod">
          <ac:chgData name="Xinyang Zhang" userId="275c6420-31b2-4dc5-b764-dc516542ca8c" providerId="ADAL" clId="{009921BB-FF79-4BDD-9C4A-A8042FA25AF1}" dt="2026-03-31T17:27:37.124" v="153" actId="1076"/>
          <ac:grpSpMkLst>
            <pc:docMk/>
            <pc:sldMk cId="664564367" sldId="358"/>
            <ac:grpSpMk id="50" creationId="{8C31B8D1-038E-F01E-BBB4-4DBE68E2C00D}"/>
          </ac:grpSpMkLst>
        </pc:grpChg>
        <pc:grpChg chg="mod">
          <ac:chgData name="Xinyang Zhang" userId="275c6420-31b2-4dc5-b764-dc516542ca8c" providerId="ADAL" clId="{009921BB-FF79-4BDD-9C4A-A8042FA25AF1}" dt="2026-03-31T18:00:52.720" v="260" actId="1076"/>
          <ac:grpSpMkLst>
            <pc:docMk/>
            <pc:sldMk cId="664564367" sldId="358"/>
            <ac:grpSpMk id="59" creationId="{C2164000-BE21-D97C-D90D-B3D588578D9E}"/>
          </ac:grpSpMkLst>
        </pc:grpChg>
        <pc:grpChg chg="mod">
          <ac:chgData name="Xinyang Zhang" userId="275c6420-31b2-4dc5-b764-dc516542ca8c" providerId="ADAL" clId="{009921BB-FF79-4BDD-9C4A-A8042FA25AF1}" dt="2026-03-31T17:33:08.638" v="178" actId="1076"/>
          <ac:grpSpMkLst>
            <pc:docMk/>
            <pc:sldMk cId="664564367" sldId="358"/>
            <ac:grpSpMk id="118" creationId="{780BCB6A-939B-4CD3-DA2D-DC656919C186}"/>
          </ac:grpSpMkLst>
        </pc:grpChg>
        <pc:graphicFrameChg chg="mod modGraphic">
          <ac:chgData name="Xinyang Zhang" userId="275c6420-31b2-4dc5-b764-dc516542ca8c" providerId="ADAL" clId="{009921BB-FF79-4BDD-9C4A-A8042FA25AF1}" dt="2026-03-31T17:47:05.406" v="259" actId="1076"/>
          <ac:graphicFrameMkLst>
            <pc:docMk/>
            <pc:sldMk cId="664564367" sldId="358"/>
            <ac:graphicFrameMk id="7" creationId="{03671437-E954-CAE6-BA40-FA59C9204943}"/>
          </ac:graphicFrameMkLst>
        </pc:graphicFrameChg>
        <pc:graphicFrameChg chg="mod modGraphic">
          <ac:chgData name="Xinyang Zhang" userId="275c6420-31b2-4dc5-b764-dc516542ca8c" providerId="ADAL" clId="{009921BB-FF79-4BDD-9C4A-A8042FA25AF1}" dt="2026-03-31T17:40:03.837" v="245" actId="14734"/>
          <ac:graphicFrameMkLst>
            <pc:docMk/>
            <pc:sldMk cId="664564367" sldId="358"/>
            <ac:graphicFrameMk id="8" creationId="{29A4F39C-DDDB-66BB-48A7-9B958BA0E883}"/>
          </ac:graphicFrameMkLst>
        </pc:graphicFrameChg>
        <pc:picChg chg="mod">
          <ac:chgData name="Xinyang Zhang" userId="275c6420-31b2-4dc5-b764-dc516542ca8c" providerId="ADAL" clId="{009921BB-FF79-4BDD-9C4A-A8042FA25AF1}" dt="2026-03-31T17:33:50.014" v="185" actId="1076"/>
          <ac:picMkLst>
            <pc:docMk/>
            <pc:sldMk cId="664564367" sldId="358"/>
            <ac:picMk id="37" creationId="{4C648DA2-BE84-DEEB-BA9C-9064DC602E72}"/>
          </ac:picMkLst>
        </pc:picChg>
        <pc:picChg chg="mod">
          <ac:chgData name="Xinyang Zhang" userId="275c6420-31b2-4dc5-b764-dc516542ca8c" providerId="ADAL" clId="{009921BB-FF79-4BDD-9C4A-A8042FA25AF1}" dt="2026-03-31T17:19:38.296" v="97" actId="1076"/>
          <ac:picMkLst>
            <pc:docMk/>
            <pc:sldMk cId="664564367" sldId="358"/>
            <ac:picMk id="53" creationId="{0A19E228-7ED9-1D63-6DF3-89A0C2D8363D}"/>
          </ac:picMkLst>
        </pc:picChg>
        <pc:picChg chg="mod">
          <ac:chgData name="Xinyang Zhang" userId="275c6420-31b2-4dc5-b764-dc516542ca8c" providerId="ADAL" clId="{009921BB-FF79-4BDD-9C4A-A8042FA25AF1}" dt="2026-03-31T17:19:38.296" v="97" actId="1076"/>
          <ac:picMkLst>
            <pc:docMk/>
            <pc:sldMk cId="664564367" sldId="358"/>
            <ac:picMk id="54" creationId="{AA8C9366-7B2C-90DE-836B-C18E429488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816248-E5C2-8942-BF43-2A915C116FC1}" type="datetimeFigureOut">
              <a:rPr lang="en-US" smtClean="0"/>
              <a:t>4/2/2026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FB6735-6847-E443-9CA1-39224FA7009B}" type="slidenum">
              <a:rPr lang="en-US" smtClean="0"/>
              <a:t>‹#›</a:t>
            </a:fld>
            <a:endParaRPr lang="en-US"/>
          </a:p>
        </p:txBody>
      </p:sp>
    </p:spTree>
    <p:extLst>
      <p:ext uri="{BB962C8B-B14F-4D97-AF65-F5344CB8AC3E}">
        <p14:creationId xmlns:p14="http://schemas.microsoft.com/office/powerpoint/2010/main" val="596609987"/>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poster template was created by Dr. Najor (Dept. of Biology)</a:t>
            </a:r>
          </a:p>
        </p:txBody>
      </p:sp>
      <p:sp>
        <p:nvSpPr>
          <p:cNvPr id="4" name="Slide Number Placeholder 3"/>
          <p:cNvSpPr>
            <a:spLocks noGrp="1"/>
          </p:cNvSpPr>
          <p:nvPr>
            <p:ph type="sldNum" sz="quarter" idx="5"/>
          </p:nvPr>
        </p:nvSpPr>
        <p:spPr/>
        <p:txBody>
          <a:bodyPr/>
          <a:lstStyle/>
          <a:p>
            <a:fld id="{CEFB6735-6847-E443-9CA1-39224FA7009B}" type="slidenum">
              <a:rPr lang="en-US" smtClean="0"/>
              <a:t>1</a:t>
            </a:fld>
            <a:endParaRPr lang="en-US"/>
          </a:p>
        </p:txBody>
      </p:sp>
    </p:spTree>
    <p:extLst>
      <p:ext uri="{BB962C8B-B14F-4D97-AF65-F5344CB8AC3E}">
        <p14:creationId xmlns:p14="http://schemas.microsoft.com/office/powerpoint/2010/main" val="1579718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p>
        </p:txBody>
      </p:sp>
      <p:sp>
        <p:nvSpPr>
          <p:cNvPr id="4" name="Date Placeholder 3"/>
          <p:cNvSpPr>
            <a:spLocks noGrp="1"/>
          </p:cNvSpPr>
          <p:nvPr>
            <p:ph type="dt" sz="half" idx="10"/>
          </p:nvPr>
        </p:nvSpPr>
        <p:spPr/>
        <p:txBody>
          <a:bodyPr/>
          <a:lstStyle/>
          <a:p>
            <a:fld id="{974FFEAA-1C5A-E04A-8312-E35196B3385B}"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92F620-A3B2-D043-9914-BC8B23D4AE40}" type="slidenum">
              <a:rPr lang="en-US" smtClean="0"/>
              <a:t>‹#›</a:t>
            </a:fld>
            <a:endParaRPr lang="en-US"/>
          </a:p>
        </p:txBody>
      </p:sp>
    </p:spTree>
    <p:extLst>
      <p:ext uri="{BB962C8B-B14F-4D97-AF65-F5344CB8AC3E}">
        <p14:creationId xmlns:p14="http://schemas.microsoft.com/office/powerpoint/2010/main" val="179076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4FFEAA-1C5A-E04A-8312-E35196B3385B}"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92F620-A3B2-D043-9914-BC8B23D4AE40}" type="slidenum">
              <a:rPr lang="en-US" smtClean="0"/>
              <a:t>‹#›</a:t>
            </a:fld>
            <a:endParaRPr lang="en-US"/>
          </a:p>
        </p:txBody>
      </p:sp>
    </p:spTree>
    <p:extLst>
      <p:ext uri="{BB962C8B-B14F-4D97-AF65-F5344CB8AC3E}">
        <p14:creationId xmlns:p14="http://schemas.microsoft.com/office/powerpoint/2010/main" val="497774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74FFEAA-1C5A-E04A-8312-E35196B3385B}"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92F620-A3B2-D043-9914-BC8B23D4AE40}" type="slidenum">
              <a:rPr lang="en-US" smtClean="0"/>
              <a:t>‹#›</a:t>
            </a:fld>
            <a:endParaRPr lang="en-US"/>
          </a:p>
        </p:txBody>
      </p:sp>
    </p:spTree>
    <p:extLst>
      <p:ext uri="{BB962C8B-B14F-4D97-AF65-F5344CB8AC3E}">
        <p14:creationId xmlns:p14="http://schemas.microsoft.com/office/powerpoint/2010/main" val="359518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75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2199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4FFEAA-1C5A-E04A-8312-E35196B3385B}"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92F620-A3B2-D043-9914-BC8B23D4AE40}" type="slidenum">
              <a:rPr lang="en-US" smtClean="0"/>
              <a:t>‹#›</a:t>
            </a:fld>
            <a:endParaRPr lang="en-US"/>
          </a:p>
        </p:txBody>
      </p:sp>
    </p:spTree>
    <p:extLst>
      <p:ext uri="{BB962C8B-B14F-4D97-AF65-F5344CB8AC3E}">
        <p14:creationId xmlns:p14="http://schemas.microsoft.com/office/powerpoint/2010/main" val="2393434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4FFEAA-1C5A-E04A-8312-E35196B3385B}"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92F620-A3B2-D043-9914-BC8B23D4AE40}" type="slidenum">
              <a:rPr lang="en-US" smtClean="0"/>
              <a:t>‹#›</a:t>
            </a:fld>
            <a:endParaRPr lang="en-US"/>
          </a:p>
        </p:txBody>
      </p:sp>
    </p:spTree>
    <p:extLst>
      <p:ext uri="{BB962C8B-B14F-4D97-AF65-F5344CB8AC3E}">
        <p14:creationId xmlns:p14="http://schemas.microsoft.com/office/powerpoint/2010/main" val="3705993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74FFEAA-1C5A-E04A-8312-E35196B3385B}"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92F620-A3B2-D043-9914-BC8B23D4AE40}" type="slidenum">
              <a:rPr lang="en-US" smtClean="0"/>
              <a:t>‹#›</a:t>
            </a:fld>
            <a:endParaRPr lang="en-US"/>
          </a:p>
        </p:txBody>
      </p:sp>
    </p:spTree>
    <p:extLst>
      <p:ext uri="{BB962C8B-B14F-4D97-AF65-F5344CB8AC3E}">
        <p14:creationId xmlns:p14="http://schemas.microsoft.com/office/powerpoint/2010/main" val="4221975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4FFEAA-1C5A-E04A-8312-E35196B3385B}"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92F620-A3B2-D043-9914-BC8B23D4AE40}" type="slidenum">
              <a:rPr lang="en-US" smtClean="0"/>
              <a:t>‹#›</a:t>
            </a:fld>
            <a:endParaRPr lang="en-US"/>
          </a:p>
        </p:txBody>
      </p:sp>
    </p:spTree>
    <p:extLst>
      <p:ext uri="{BB962C8B-B14F-4D97-AF65-F5344CB8AC3E}">
        <p14:creationId xmlns:p14="http://schemas.microsoft.com/office/powerpoint/2010/main" val="4219445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Edit Master text styles</a:t>
            </a:r>
          </a:p>
        </p:txBody>
      </p:sp>
      <p:sp>
        <p:nvSpPr>
          <p:cNvPr id="5" name="Date Placeholder 4"/>
          <p:cNvSpPr>
            <a:spLocks noGrp="1"/>
          </p:cNvSpPr>
          <p:nvPr>
            <p:ph type="dt" sz="half" idx="10"/>
          </p:nvPr>
        </p:nvSpPr>
        <p:spPr/>
        <p:txBody>
          <a:bodyPr/>
          <a:lstStyle/>
          <a:p>
            <a:fld id="{974FFEAA-1C5A-E04A-8312-E35196B3385B}"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92F620-A3B2-D043-9914-BC8B23D4AE40}" type="slidenum">
              <a:rPr lang="en-US" smtClean="0"/>
              <a:t>‹#›</a:t>
            </a:fld>
            <a:endParaRPr lang="en-US"/>
          </a:p>
        </p:txBody>
      </p:sp>
    </p:spTree>
    <p:extLst>
      <p:ext uri="{BB962C8B-B14F-4D97-AF65-F5344CB8AC3E}">
        <p14:creationId xmlns:p14="http://schemas.microsoft.com/office/powerpoint/2010/main" val="1479569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Edit Master text styles</a:t>
            </a:r>
          </a:p>
        </p:txBody>
      </p:sp>
      <p:sp>
        <p:nvSpPr>
          <p:cNvPr id="5" name="Date Placeholder 4"/>
          <p:cNvSpPr>
            <a:spLocks noGrp="1"/>
          </p:cNvSpPr>
          <p:nvPr>
            <p:ph type="dt" sz="half" idx="10"/>
          </p:nvPr>
        </p:nvSpPr>
        <p:spPr/>
        <p:txBody>
          <a:bodyPr/>
          <a:lstStyle/>
          <a:p>
            <a:fld id="{974FFEAA-1C5A-E04A-8312-E35196B3385B}"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92F620-A3B2-D043-9914-BC8B23D4AE40}" type="slidenum">
              <a:rPr lang="en-US" smtClean="0"/>
              <a:t>‹#›</a:t>
            </a:fld>
            <a:endParaRPr lang="en-US"/>
          </a:p>
        </p:txBody>
      </p:sp>
    </p:spTree>
    <p:extLst>
      <p:ext uri="{BB962C8B-B14F-4D97-AF65-F5344CB8AC3E}">
        <p14:creationId xmlns:p14="http://schemas.microsoft.com/office/powerpoint/2010/main" val="660469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4FFEAA-1C5A-E04A-8312-E35196B3385B}"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92F620-A3B2-D043-9914-BC8B23D4AE40}" type="slidenum">
              <a:rPr lang="en-US" smtClean="0"/>
              <a:t>‹#›</a:t>
            </a:fld>
            <a:endParaRPr lang="en-US"/>
          </a:p>
        </p:txBody>
      </p:sp>
    </p:spTree>
    <p:extLst>
      <p:ext uri="{BB962C8B-B14F-4D97-AF65-F5344CB8AC3E}">
        <p14:creationId xmlns:p14="http://schemas.microsoft.com/office/powerpoint/2010/main" val="162780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4FFEAA-1C5A-E04A-8312-E35196B3385B}"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92F620-A3B2-D043-9914-BC8B23D4AE40}" type="slidenum">
              <a:rPr lang="en-US" smtClean="0"/>
              <a:t>‹#›</a:t>
            </a:fld>
            <a:endParaRPr lang="en-US"/>
          </a:p>
        </p:txBody>
      </p:sp>
    </p:spTree>
    <p:extLst>
      <p:ext uri="{BB962C8B-B14F-4D97-AF65-F5344CB8AC3E}">
        <p14:creationId xmlns:p14="http://schemas.microsoft.com/office/powerpoint/2010/main" val="822931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974FFEAA-1C5A-E04A-8312-E35196B3385B}" type="datetimeFigureOut">
              <a:rPr lang="en-US" smtClean="0"/>
              <a:t>4/2/2026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6D92F620-A3B2-D043-9914-BC8B23D4AE40}" type="slidenum">
              <a:rPr lang="en-US" smtClean="0"/>
              <a:t>‹#›</a:t>
            </a:fld>
            <a:endParaRPr lang="en-US"/>
          </a:p>
        </p:txBody>
      </p:sp>
    </p:spTree>
    <p:extLst>
      <p:ext uri="{BB962C8B-B14F-4D97-AF65-F5344CB8AC3E}">
        <p14:creationId xmlns:p14="http://schemas.microsoft.com/office/powerpoint/2010/main" val="419424088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2BA85-4F0C-5A13-99BD-1869A70AE470}"/>
            </a:ext>
          </a:extLst>
        </p:cNvPr>
        <p:cNvGrpSpPr/>
        <p:nvPr/>
      </p:nvGrpSpPr>
      <p:grpSpPr>
        <a:xfrm>
          <a:off x="0" y="0"/>
          <a:ext cx="0" cy="0"/>
          <a:chOff x="0" y="0"/>
          <a:chExt cx="0" cy="0"/>
        </a:xfrm>
      </p:grpSpPr>
      <p:pic>
        <p:nvPicPr>
          <p:cNvPr id="22" name="Picture 21" descr="UDM Logo">
            <a:extLst>
              <a:ext uri="{FF2B5EF4-FFF2-40B4-BE49-F238E27FC236}">
                <a16:creationId xmlns:a16="http://schemas.microsoft.com/office/drawing/2014/main" id="{EBDA0604-23F7-8148-A147-55187943382B}"/>
              </a:ext>
            </a:extLst>
          </p:cNvPr>
          <p:cNvPicPr>
            <a:picLocks noChangeAspect="1"/>
          </p:cNvPicPr>
          <p:nvPr/>
        </p:nvPicPr>
        <p:blipFill>
          <a:blip r:embed="rId3"/>
          <a:stretch>
            <a:fillRect/>
          </a:stretch>
        </p:blipFill>
        <p:spPr>
          <a:xfrm>
            <a:off x="2058109" y="1154236"/>
            <a:ext cx="3689548" cy="4233908"/>
          </a:xfrm>
          <a:prstGeom prst="rect">
            <a:avLst/>
          </a:prstGeom>
        </p:spPr>
      </p:pic>
      <p:sp>
        <p:nvSpPr>
          <p:cNvPr id="11" name="Rectangle 10">
            <a:extLst>
              <a:ext uri="{FF2B5EF4-FFF2-40B4-BE49-F238E27FC236}">
                <a16:creationId xmlns:a16="http://schemas.microsoft.com/office/drawing/2014/main" id="{365FCD1C-BB91-436F-4EA7-C43AB920C737}"/>
              </a:ext>
              <a:ext uri="{C183D7F6-B498-43B3-948B-1728B52AA6E4}">
                <adec:decorative xmlns:adec="http://schemas.microsoft.com/office/drawing/2017/decorative" val="0"/>
              </a:ext>
            </a:extLst>
          </p:cNvPr>
          <p:cNvSpPr/>
          <p:nvPr/>
        </p:nvSpPr>
        <p:spPr>
          <a:xfrm>
            <a:off x="6760292" y="731373"/>
            <a:ext cx="30370617" cy="5089860"/>
          </a:xfrm>
          <a:prstGeom prst="rect">
            <a:avLst/>
          </a:prstGeom>
          <a:noFill/>
          <a:ln w="76200">
            <a:solidFill>
              <a:srgbClr val="1D47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CE67527-29FF-074A-8653-A487A60436C7}"/>
              </a:ext>
            </a:extLst>
          </p:cNvPr>
          <p:cNvSpPr txBox="1">
            <a:spLocks noGrp="1"/>
          </p:cNvSpPr>
          <p:nvPr>
            <p:ph type="title" idx="4294967295"/>
          </p:nvPr>
        </p:nvSpPr>
        <p:spPr>
          <a:xfrm>
            <a:off x="7170302" y="831063"/>
            <a:ext cx="29550596" cy="359483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3686861" rtl="0" eaLnBrk="1" fontAlgn="auto" latinLnBrk="0" hangingPunct="1">
              <a:lnSpc>
                <a:spcPct val="100000"/>
              </a:lnSpc>
              <a:spcBef>
                <a:spcPts val="0"/>
              </a:spcBef>
              <a:spcAft>
                <a:spcPts val="0"/>
              </a:spcAft>
              <a:buClrTx/>
              <a:buSzTx/>
              <a:buFontTx/>
              <a:buNone/>
              <a:tabLst/>
              <a:defRPr/>
            </a:pPr>
            <a:r>
              <a:rPr kumimoji="0" lang="en-US" sz="9800" b="1" i="0" u="none" strike="noStrike" kern="1200" cap="none" spc="0" normalizeH="0" baseline="0" noProof="0">
                <a:ln>
                  <a:noFill/>
                </a:ln>
                <a:solidFill>
                  <a:schemeClr val="tx1"/>
                </a:solidFill>
                <a:effectLst/>
                <a:uLnTx/>
                <a:uFillTx/>
                <a:latin typeface="+mn-lt"/>
                <a:ea typeface="+mn-ea"/>
                <a:cs typeface="+mn-cs"/>
              </a:rPr>
              <a:t>Portable Hybrid Edge-AI System for Pothole Detection</a:t>
            </a:r>
            <a:br>
              <a:rPr kumimoji="0" lang="en-US" sz="11733" b="1" i="0" u="none" strike="noStrike" kern="1200" cap="none" spc="0" normalizeH="0" baseline="0" noProof="0">
                <a:ln>
                  <a:noFill/>
                </a:ln>
                <a:solidFill>
                  <a:schemeClr val="tx1"/>
                </a:solidFill>
                <a:effectLst/>
                <a:uLnTx/>
                <a:uFillTx/>
                <a:latin typeface="+mn-lt"/>
                <a:ea typeface="+mn-ea"/>
                <a:cs typeface="+mn-cs"/>
              </a:rPr>
            </a:br>
            <a:r>
              <a:rPr kumimoji="0" lang="en-US" altLang="zh-CN" sz="4320" b="0" i="0" u="none" strike="noStrike" kern="1200" cap="none" spc="0" normalizeH="0" baseline="0" noProof="0">
                <a:ln>
                  <a:noFill/>
                </a:ln>
                <a:solidFill>
                  <a:schemeClr val="tx1"/>
                </a:solidFill>
                <a:effectLst/>
                <a:uLnTx/>
                <a:uFillTx/>
                <a:latin typeface="+mn-lt"/>
                <a:ea typeface="+mn-ea"/>
                <a:cs typeface="+mn-cs"/>
              </a:rPr>
              <a:t>Xinyang Zhang, Osama Najeeb, Avishek Mukherjee, Ph.D.</a:t>
            </a:r>
            <a:br>
              <a:rPr kumimoji="0" lang="en-US" altLang="zh-CN" sz="4320" b="0" i="0" u="none" strike="noStrike" kern="1200" cap="none" spc="0" normalizeH="0" baseline="0" noProof="0">
                <a:ln>
                  <a:noFill/>
                </a:ln>
                <a:solidFill>
                  <a:schemeClr val="tx1"/>
                </a:solidFill>
                <a:effectLst/>
                <a:uLnTx/>
                <a:uFillTx/>
                <a:latin typeface="+mn-lt"/>
                <a:ea typeface="+mn-ea"/>
                <a:cs typeface="+mn-cs"/>
              </a:rPr>
            </a:br>
            <a:r>
              <a:rPr lang="en-US" altLang="zh-CN" sz="4320"/>
              <a:t>Department of Electrical and Computer Engineering and Computer Science</a:t>
            </a:r>
            <a:br>
              <a:rPr lang="en-US" altLang="zh-CN" sz="4320"/>
            </a:br>
            <a:r>
              <a:rPr lang="en-US" altLang="zh-CN" sz="4320"/>
              <a:t> University of Detroit Mercy</a:t>
            </a:r>
            <a:endParaRPr kumimoji="0" lang="en-US" sz="4320" b="0" i="0" u="none" strike="noStrike" kern="1200" cap="none" spc="0" normalizeH="0" baseline="0" noProof="0">
              <a:ln>
                <a:noFill/>
              </a:ln>
              <a:solidFill>
                <a:schemeClr val="tx1"/>
              </a:solidFill>
              <a:effectLst/>
              <a:uLnTx/>
              <a:uFillTx/>
              <a:latin typeface="+mn-lt"/>
              <a:ea typeface="+mn-ea"/>
              <a:cs typeface="+mn-cs"/>
            </a:endParaRPr>
          </a:p>
        </p:txBody>
      </p:sp>
      <p:pic>
        <p:nvPicPr>
          <p:cNvPr id="2" name="Picture 1" descr="A logo on a black background&#10;&#10;AI-generated content may be incorrect.">
            <a:extLst>
              <a:ext uri="{FF2B5EF4-FFF2-40B4-BE49-F238E27FC236}">
                <a16:creationId xmlns:a16="http://schemas.microsoft.com/office/drawing/2014/main" id="{25AB143A-D3CC-9D16-9D0A-80EED71D315E}"/>
              </a:ext>
            </a:extLst>
          </p:cNvPr>
          <p:cNvPicPr>
            <a:picLocks noChangeAspect="1"/>
          </p:cNvPicPr>
          <p:nvPr/>
        </p:nvPicPr>
        <p:blipFill>
          <a:blip r:embed="rId4"/>
          <a:stretch>
            <a:fillRect/>
          </a:stretch>
        </p:blipFill>
        <p:spPr>
          <a:xfrm>
            <a:off x="37070433" y="-14721"/>
            <a:ext cx="6700406" cy="6638060"/>
          </a:xfrm>
          <a:prstGeom prst="rect">
            <a:avLst/>
          </a:prstGeom>
        </p:spPr>
      </p:pic>
      <p:sp>
        <p:nvSpPr>
          <p:cNvPr id="9" name="矩形">
            <a:extLst>
              <a:ext uri="{FF2B5EF4-FFF2-40B4-BE49-F238E27FC236}">
                <a16:creationId xmlns:a16="http://schemas.microsoft.com/office/drawing/2014/main" id="{6DAE2BBC-A540-0E4D-2142-E0AD5E41C3C2}"/>
              </a:ext>
            </a:extLst>
          </p:cNvPr>
          <p:cNvSpPr/>
          <p:nvPr/>
        </p:nvSpPr>
        <p:spPr>
          <a:xfrm>
            <a:off x="1559256" y="7067494"/>
            <a:ext cx="13166531" cy="641328"/>
          </a:xfrm>
          <a:prstGeom prst="rect">
            <a:avLst/>
          </a:prstGeom>
          <a:solidFill>
            <a:srgbClr val="376092"/>
          </a:solidFill>
          <a:ln w="12600" cap="flat">
            <a:solidFill>
              <a:srgbClr val="3A5F8B"/>
            </a:solidFill>
            <a:prstDash val="solid"/>
            <a:round/>
          </a:ln>
          <a:effectLst/>
        </p:spPr>
        <p:txBody>
          <a:bodyPr wrap="square" lIns="45719" tIns="45719" rIns="45719" bIns="45719" numCol="1" anchor="ctr">
            <a:noAutofit/>
          </a:bodyPr>
          <a:lstStyle/>
          <a:p>
            <a:pPr algn="ctr"/>
            <a:endParaRPr sz="8800">
              <a:latin typeface="Calibri"/>
              <a:ea typeface="Calibri"/>
              <a:cs typeface="Calibri"/>
            </a:endParaRPr>
          </a:p>
        </p:txBody>
      </p:sp>
      <p:grpSp>
        <p:nvGrpSpPr>
          <p:cNvPr id="14" name="CustomShape 7">
            <a:extLst>
              <a:ext uri="{FF2B5EF4-FFF2-40B4-BE49-F238E27FC236}">
                <a16:creationId xmlns:a16="http://schemas.microsoft.com/office/drawing/2014/main" id="{12FEF137-D308-BBD1-8C46-3EB406AF62B0}"/>
              </a:ext>
            </a:extLst>
          </p:cNvPr>
          <p:cNvGrpSpPr/>
          <p:nvPr/>
        </p:nvGrpSpPr>
        <p:grpSpPr>
          <a:xfrm>
            <a:off x="1447466" y="8055316"/>
            <a:ext cx="13256766" cy="23340176"/>
            <a:chOff x="-91564" y="-79711"/>
            <a:chExt cx="13256764" cy="12266801"/>
          </a:xfrm>
          <a:noFill/>
        </p:grpSpPr>
        <p:sp>
          <p:nvSpPr>
            <p:cNvPr id="15" name="矩形">
              <a:extLst>
                <a:ext uri="{FF2B5EF4-FFF2-40B4-BE49-F238E27FC236}">
                  <a16:creationId xmlns:a16="http://schemas.microsoft.com/office/drawing/2014/main" id="{59946946-BC37-E7F8-12CE-FA18195787E5}"/>
                </a:ext>
              </a:extLst>
            </p:cNvPr>
            <p:cNvSpPr/>
            <p:nvPr/>
          </p:nvSpPr>
          <p:spPr>
            <a:xfrm>
              <a:off x="0" y="0"/>
              <a:ext cx="13165200" cy="12187090"/>
            </a:xfrm>
            <a:prstGeom prst="rect">
              <a:avLst/>
            </a:prstGeom>
            <a:grpFill/>
            <a:ln w="9525" cap="flat">
              <a:solidFill>
                <a:srgbClr val="46AAC4"/>
              </a:solidFill>
              <a:prstDash val="solid"/>
              <a:round/>
            </a:ln>
            <a:effectLst>
              <a:outerShdw blurRad="38100" dist="23000" dir="5400000" rotWithShape="0">
                <a:srgbClr val="000000">
                  <a:alpha val="35000"/>
                </a:srgbClr>
              </a:outerShdw>
            </a:effectLst>
          </p:spPr>
          <p:txBody>
            <a:bodyPr wrap="square" lIns="45719" tIns="45719" rIns="45719" bIns="45719" numCol="1" anchor="t">
              <a:noAutofit/>
            </a:bodyPr>
            <a:lstStyle/>
            <a:p>
              <a:pPr>
                <a:defRPr>
                  <a:solidFill>
                    <a:srgbClr val="FFFFFF"/>
                  </a:solidFill>
                </a:defRPr>
              </a:pPr>
              <a:endParaRPr>
                <a:latin typeface="Calibri"/>
                <a:ea typeface="Calibri"/>
                <a:cs typeface="Calibri"/>
              </a:endParaRPr>
            </a:p>
          </p:txBody>
        </p:sp>
        <p:sp>
          <p:nvSpPr>
            <p:cNvPr id="16" name="To control the vehicle dynamics like acceleration, braking, gear and terrain need to control the motor speed in proper way. So this paper advocates a novel approach to design and analyze a controller using fuzzy logic to control the speed of the vehicle.…">
              <a:extLst>
                <a:ext uri="{FF2B5EF4-FFF2-40B4-BE49-F238E27FC236}">
                  <a16:creationId xmlns:a16="http://schemas.microsoft.com/office/drawing/2014/main" id="{565411C1-3F92-488A-B82C-9DF293944815}"/>
                </a:ext>
              </a:extLst>
            </p:cNvPr>
            <p:cNvSpPr txBox="1"/>
            <p:nvPr/>
          </p:nvSpPr>
          <p:spPr>
            <a:xfrm>
              <a:off x="-91564" y="-79711"/>
              <a:ext cx="13165200" cy="5422220"/>
            </a:xfrm>
            <a:prstGeom prst="rect">
              <a:avLst/>
            </a:prstGeom>
            <a:grp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37160" tIns="137160" rIns="137160" bIns="137160" numCol="1" anchor="t">
              <a:spAutoFit/>
            </a:bodyPr>
            <a:lstStyle/>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sym typeface="Calibri"/>
              </a:endParaRPr>
            </a:p>
            <a:p>
              <a:pPr algn="just">
                <a:defRPr sz="3200">
                  <a:latin typeface="+mj-lt"/>
                  <a:ea typeface="+mj-ea"/>
                  <a:cs typeface="+mj-cs"/>
                  <a:sym typeface="Calibri"/>
                </a:defRPr>
              </a:pPr>
              <a:endParaRPr lang="en-US" altLang="zh-CN" sz="4000">
                <a:latin typeface="+mj-lt"/>
                <a:ea typeface="+mj-ea"/>
                <a:cs typeface="+mj-cs"/>
              </a:endParaRPr>
            </a:p>
            <a:p>
              <a:pPr algn="just">
                <a:defRPr sz="3200">
                  <a:latin typeface="+mj-lt"/>
                  <a:ea typeface="+mj-ea"/>
                  <a:cs typeface="+mj-cs"/>
                  <a:sym typeface="Calibri"/>
                </a:defRPr>
              </a:pPr>
              <a:r>
                <a:rPr lang="en-US" altLang="zh-CN" sz="3200">
                  <a:latin typeface="+mj-lt"/>
                  <a:ea typeface="+mj-ea"/>
                  <a:cs typeface="+mj-cs"/>
                </a:rPr>
                <a:t> </a:t>
              </a:r>
              <a:endParaRPr lang="zh-CN" altLang="zh-CN" sz="3200">
                <a:latin typeface="+mj-lt"/>
                <a:ea typeface="+mj-ea"/>
                <a:cs typeface="+mj-cs"/>
              </a:endParaRPr>
            </a:p>
            <a:p>
              <a:pPr algn="just">
                <a:defRPr sz="3200">
                  <a:latin typeface="+mj-lt"/>
                  <a:ea typeface="+mj-ea"/>
                  <a:cs typeface="+mj-cs"/>
                  <a:sym typeface="Calibri"/>
                </a:defRPr>
              </a:pPr>
              <a:endParaRPr/>
            </a:p>
            <a:p>
              <a:pPr algn="just">
                <a:defRPr sz="3200">
                  <a:latin typeface="+mj-lt"/>
                  <a:ea typeface="+mj-ea"/>
                  <a:cs typeface="+mj-cs"/>
                  <a:sym typeface="Calibri"/>
                </a:defRPr>
              </a:pPr>
              <a:r>
                <a:t> </a:t>
              </a:r>
            </a:p>
          </p:txBody>
        </p:sp>
      </p:grpSp>
      <p:grpSp>
        <p:nvGrpSpPr>
          <p:cNvPr id="17" name="CustomShape 9">
            <a:extLst>
              <a:ext uri="{FF2B5EF4-FFF2-40B4-BE49-F238E27FC236}">
                <a16:creationId xmlns:a16="http://schemas.microsoft.com/office/drawing/2014/main" id="{8AD3174F-C667-A1FE-1674-10887C410E1B}"/>
              </a:ext>
            </a:extLst>
          </p:cNvPr>
          <p:cNvGrpSpPr/>
          <p:nvPr/>
        </p:nvGrpSpPr>
        <p:grpSpPr>
          <a:xfrm>
            <a:off x="15205260" y="8151568"/>
            <a:ext cx="13364804" cy="23243924"/>
            <a:chOff x="0" y="-29940"/>
            <a:chExt cx="13235563" cy="22407061"/>
          </a:xfrm>
          <a:noFill/>
        </p:grpSpPr>
        <p:sp>
          <p:nvSpPr>
            <p:cNvPr id="18" name="矩形">
              <a:extLst>
                <a:ext uri="{FF2B5EF4-FFF2-40B4-BE49-F238E27FC236}">
                  <a16:creationId xmlns:a16="http://schemas.microsoft.com/office/drawing/2014/main" id="{BF47A602-6053-E9B5-1F62-E2FC490FA3FC}"/>
                </a:ext>
              </a:extLst>
            </p:cNvPr>
            <p:cNvSpPr/>
            <p:nvPr/>
          </p:nvSpPr>
          <p:spPr>
            <a:xfrm>
              <a:off x="0" y="-1"/>
              <a:ext cx="13235563" cy="22377122"/>
            </a:xfrm>
            <a:prstGeom prst="rect">
              <a:avLst/>
            </a:prstGeom>
            <a:grpFill/>
            <a:ln w="9525" cap="flat">
              <a:solidFill>
                <a:srgbClr val="7D60A0"/>
              </a:solidFill>
              <a:prstDash val="solid"/>
              <a:round/>
            </a:ln>
            <a:effectLst>
              <a:outerShdw blurRad="38100" dist="20000" dir="5400000" rotWithShape="0">
                <a:srgbClr val="000000">
                  <a:alpha val="38000"/>
                </a:srgbClr>
              </a:outerShdw>
            </a:effectLst>
          </p:spPr>
          <p:txBody>
            <a:bodyPr wrap="square" lIns="45719" tIns="45719" rIns="45719" bIns="45719" numCol="1" anchor="t">
              <a:noAutofit/>
            </a:bodyPr>
            <a:lstStyle/>
            <a:p>
              <a:endParaRPr>
                <a:latin typeface="Calibri"/>
                <a:ea typeface="Calibri"/>
                <a:cs typeface="Calibri"/>
              </a:endParaRPr>
            </a:p>
          </p:txBody>
        </p:sp>
        <p:sp>
          <p:nvSpPr>
            <p:cNvPr id="19" name="Figure 4 shows the Fuzzy inference system where there are two inputs. One is speed error and other is the change in error. Each input has seven membership functions ranging from -1 to 1 as shown in figure 2,3. This fuzzy controller has one output which is shown in figure 4. As each input has seven membership functions therefore total rules defined for this controller are 7x7 = 49. Figure 6 shows the surface viewer of the controller system. The rules are defined according to the following algorithm which has shown in following table 1.">
              <a:extLst>
                <a:ext uri="{FF2B5EF4-FFF2-40B4-BE49-F238E27FC236}">
                  <a16:creationId xmlns:a16="http://schemas.microsoft.com/office/drawing/2014/main" id="{53E8E42C-DAB6-5B55-49A3-0A1674F4C31A}"/>
                </a:ext>
              </a:extLst>
            </p:cNvPr>
            <p:cNvSpPr txBox="1"/>
            <p:nvPr/>
          </p:nvSpPr>
          <p:spPr>
            <a:xfrm>
              <a:off x="0" y="-29940"/>
              <a:ext cx="13235563" cy="16057712"/>
            </a:xfrm>
            <a:prstGeom prst="rect">
              <a:avLst/>
            </a:prstGeom>
            <a:grp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tIns="45719" rIns="45719" bIns="45719" numCol="1" anchor="t">
              <a:spAutoFit/>
            </a:bodyPr>
            <a:lstStyle/>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a:p>
              <a:pPr algn="just">
                <a:defRPr sz="3200">
                  <a:latin typeface="+mj-lt"/>
                  <a:ea typeface="+mj-ea"/>
                  <a:cs typeface="+mj-cs"/>
                  <a:sym typeface="Calibri"/>
                </a:defRPr>
              </a:pPr>
              <a:endParaRPr sz="4000"/>
            </a:p>
          </p:txBody>
        </p:sp>
      </p:grpSp>
      <p:grpSp>
        <p:nvGrpSpPr>
          <p:cNvPr id="20" name="CustomShape 11">
            <a:extLst>
              <a:ext uri="{FF2B5EF4-FFF2-40B4-BE49-F238E27FC236}">
                <a16:creationId xmlns:a16="http://schemas.microsoft.com/office/drawing/2014/main" id="{21BD4201-8C56-D8A9-55E6-A459A30365FC}"/>
              </a:ext>
            </a:extLst>
          </p:cNvPr>
          <p:cNvGrpSpPr/>
          <p:nvPr/>
        </p:nvGrpSpPr>
        <p:grpSpPr>
          <a:xfrm>
            <a:off x="28765446" y="8205597"/>
            <a:ext cx="13394821" cy="23212867"/>
            <a:chOff x="-1" y="-1"/>
            <a:chExt cx="13375770" cy="5215652"/>
          </a:xfrm>
          <a:noFill/>
        </p:grpSpPr>
        <p:sp>
          <p:nvSpPr>
            <p:cNvPr id="21" name="矩形">
              <a:extLst>
                <a:ext uri="{FF2B5EF4-FFF2-40B4-BE49-F238E27FC236}">
                  <a16:creationId xmlns:a16="http://schemas.microsoft.com/office/drawing/2014/main" id="{911C7E0B-2B26-64F9-9C8C-F9E43A418232}"/>
                </a:ext>
              </a:extLst>
            </p:cNvPr>
            <p:cNvSpPr/>
            <p:nvPr/>
          </p:nvSpPr>
          <p:spPr>
            <a:xfrm>
              <a:off x="-1" y="-1"/>
              <a:ext cx="13220401" cy="5215652"/>
            </a:xfrm>
            <a:prstGeom prst="rect">
              <a:avLst/>
            </a:prstGeom>
            <a:grpFill/>
            <a:ln w="9525" cap="flat">
              <a:solidFill>
                <a:srgbClr val="46AAC4"/>
              </a:solidFill>
              <a:prstDash val="solid"/>
              <a:round/>
            </a:ln>
            <a:effectLst>
              <a:outerShdw blurRad="38100" dist="23000" dir="5400000" rotWithShape="0">
                <a:srgbClr val="000000">
                  <a:alpha val="35000"/>
                </a:srgbClr>
              </a:outerShdw>
            </a:effectLst>
          </p:spPr>
          <p:txBody>
            <a:bodyPr wrap="square" lIns="45719" tIns="45719" rIns="45719" bIns="45719" numCol="1" anchor="t">
              <a:noAutofit/>
            </a:bodyPr>
            <a:lstStyle/>
            <a:p>
              <a:pPr>
                <a:defRPr>
                  <a:solidFill>
                    <a:srgbClr val="FFFFFF"/>
                  </a:solidFill>
                </a:defRPr>
              </a:pPr>
              <a:endParaRPr lang="zh-CN" altLang="en-US" sz="7250">
                <a:ea typeface="Calibri"/>
                <a:cs typeface="Calibri"/>
              </a:endParaRPr>
            </a:p>
          </p:txBody>
        </p:sp>
        <p:sp>
          <p:nvSpPr>
            <p:cNvPr id="23" name="The figure 11 is the result that we should have, but the membership function of output is not give in the paper.So we can’t get the same result.All in all, the basic idea is same.The input signal is the change of speed that we desired.By using the fuzzy controller we can accelerate the speed of vehicle to a desired value smoothly as showing in the figure 11.">
              <a:extLst>
                <a:ext uri="{FF2B5EF4-FFF2-40B4-BE49-F238E27FC236}">
                  <a16:creationId xmlns:a16="http://schemas.microsoft.com/office/drawing/2014/main" id="{F35FA698-AF2D-1FAB-F2A0-C9ABA73EE89B}"/>
                </a:ext>
              </a:extLst>
            </p:cNvPr>
            <p:cNvSpPr txBox="1"/>
            <p:nvPr/>
          </p:nvSpPr>
          <p:spPr>
            <a:xfrm>
              <a:off x="155368" y="21008"/>
              <a:ext cx="13220401" cy="199659"/>
            </a:xfrm>
            <a:prstGeom prst="rect">
              <a:avLst/>
            </a:prstGeom>
            <a:grp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37160" tIns="137160" rIns="137160" bIns="137160" numCol="1" anchor="t">
              <a:spAutoFit/>
            </a:bodyPr>
            <a:lstStyle>
              <a:lvl1pPr>
                <a:defRPr sz="3400">
                  <a:latin typeface="+mj-lt"/>
                  <a:ea typeface="+mj-ea"/>
                  <a:cs typeface="+mj-cs"/>
                  <a:sym typeface="Calibri"/>
                </a:defRPr>
              </a:lvl1pPr>
            </a:lstStyle>
            <a:p>
              <a:endParaRPr lang="en-US" altLang="zh-CN" sz="4000"/>
            </a:p>
          </p:txBody>
        </p:sp>
      </p:grpSp>
      <p:grpSp>
        <p:nvGrpSpPr>
          <p:cNvPr id="24" name="CustomShape 17">
            <a:extLst>
              <a:ext uri="{FF2B5EF4-FFF2-40B4-BE49-F238E27FC236}">
                <a16:creationId xmlns:a16="http://schemas.microsoft.com/office/drawing/2014/main" id="{26F06341-512E-90BC-1A9A-F1268FA28689}"/>
              </a:ext>
            </a:extLst>
          </p:cNvPr>
          <p:cNvGrpSpPr/>
          <p:nvPr/>
        </p:nvGrpSpPr>
        <p:grpSpPr>
          <a:xfrm>
            <a:off x="1505603" y="18073868"/>
            <a:ext cx="13231580" cy="900064"/>
            <a:chOff x="0" y="-91980"/>
            <a:chExt cx="13231579" cy="900061"/>
          </a:xfrm>
        </p:grpSpPr>
        <p:sp>
          <p:nvSpPr>
            <p:cNvPr id="25" name="矩形">
              <a:extLst>
                <a:ext uri="{FF2B5EF4-FFF2-40B4-BE49-F238E27FC236}">
                  <a16:creationId xmlns:a16="http://schemas.microsoft.com/office/drawing/2014/main" id="{8AEE94B9-9EBC-312D-4BEE-1EDAE5D517B3}"/>
                </a:ext>
              </a:extLst>
            </p:cNvPr>
            <p:cNvSpPr/>
            <p:nvPr/>
          </p:nvSpPr>
          <p:spPr>
            <a:xfrm>
              <a:off x="0" y="16229"/>
              <a:ext cx="13231579" cy="683641"/>
            </a:xfrm>
            <a:prstGeom prst="rect">
              <a:avLst/>
            </a:prstGeom>
            <a:solidFill>
              <a:srgbClr val="376092"/>
            </a:solidFill>
            <a:ln w="12600" cap="flat">
              <a:solidFill>
                <a:srgbClr val="3A5F8B"/>
              </a:solidFill>
              <a:prstDash val="solid"/>
              <a:round/>
            </a:ln>
            <a:effectLst/>
          </p:spPr>
          <p:txBody>
            <a:bodyPr wrap="square" lIns="45719" tIns="45719" rIns="45719" bIns="45719" numCol="1" anchor="ctr">
              <a:noAutofit/>
            </a:bodyPr>
            <a:lstStyle/>
            <a:p>
              <a:pPr algn="ctr"/>
              <a:endParaRPr sz="8800">
                <a:latin typeface="Calibri"/>
                <a:ea typeface="Calibri"/>
                <a:cs typeface="Calibri"/>
              </a:endParaRPr>
            </a:p>
          </p:txBody>
        </p:sp>
        <p:sp>
          <p:nvSpPr>
            <p:cNvPr id="26" name="FUZZY  CONTROLLER DESIGN">
              <a:extLst>
                <a:ext uri="{FF2B5EF4-FFF2-40B4-BE49-F238E27FC236}">
                  <a16:creationId xmlns:a16="http://schemas.microsoft.com/office/drawing/2014/main" id="{BC324ECB-5132-55F9-C5FD-2D721BAD9353}"/>
                </a:ext>
              </a:extLst>
            </p:cNvPr>
            <p:cNvSpPr txBox="1"/>
            <p:nvPr/>
          </p:nvSpPr>
          <p:spPr>
            <a:xfrm>
              <a:off x="0" y="-91980"/>
              <a:ext cx="13231579" cy="90006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199" tIns="34199" rIns="34199" bIns="34199" numCol="1" anchor="ctr">
              <a:spAutoFit/>
            </a:bodyPr>
            <a:lstStyle>
              <a:lvl1pPr algn="ctr">
                <a:defRPr sz="4400" b="1">
                  <a:solidFill>
                    <a:srgbClr val="EBF1DE"/>
                  </a:solidFill>
                  <a:latin typeface="+mj-lt"/>
                  <a:ea typeface="+mj-ea"/>
                  <a:cs typeface="+mj-cs"/>
                  <a:sym typeface="Calibri"/>
                </a:defRPr>
              </a:lvl1pPr>
            </a:lstStyle>
            <a:p>
              <a:r>
                <a:rPr lang="en-US" altLang="zh-CN" sz="5400"/>
                <a:t>Research Question</a:t>
              </a:r>
              <a:r>
                <a:rPr lang="en-US" sz="5400"/>
                <a:t> </a:t>
              </a:r>
              <a:endParaRPr sz="5400"/>
            </a:p>
          </p:txBody>
        </p:sp>
      </p:grpSp>
      <p:sp>
        <p:nvSpPr>
          <p:cNvPr id="27" name="文本">
            <a:extLst>
              <a:ext uri="{FF2B5EF4-FFF2-40B4-BE49-F238E27FC236}">
                <a16:creationId xmlns:a16="http://schemas.microsoft.com/office/drawing/2014/main" id="{B974BC5F-E9C0-D951-DBD9-3FA92989FE07}"/>
              </a:ext>
            </a:extLst>
          </p:cNvPr>
          <p:cNvSpPr txBox="1"/>
          <p:nvPr/>
        </p:nvSpPr>
        <p:spPr>
          <a:xfrm>
            <a:off x="8121393" y="18713283"/>
            <a:ext cx="347209" cy="14465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rPr sz="8800">
                <a:latin typeface="Calibri"/>
                <a:ea typeface="Calibri"/>
                <a:cs typeface="Calibri"/>
              </a:rPr>
              <a:t> </a:t>
            </a:r>
          </a:p>
        </p:txBody>
      </p:sp>
      <p:sp>
        <p:nvSpPr>
          <p:cNvPr id="28" name="文本">
            <a:extLst>
              <a:ext uri="{FF2B5EF4-FFF2-40B4-BE49-F238E27FC236}">
                <a16:creationId xmlns:a16="http://schemas.microsoft.com/office/drawing/2014/main" id="{9E7EB782-F8BF-CFFC-3D21-D564D344889F}"/>
              </a:ext>
            </a:extLst>
          </p:cNvPr>
          <p:cNvSpPr txBox="1"/>
          <p:nvPr/>
        </p:nvSpPr>
        <p:spPr>
          <a:xfrm>
            <a:off x="8248393" y="18840283"/>
            <a:ext cx="347209" cy="14465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rPr sz="8800">
                <a:latin typeface="Calibri"/>
                <a:ea typeface="Calibri"/>
                <a:cs typeface="Calibri"/>
              </a:rPr>
              <a:t> </a:t>
            </a:r>
          </a:p>
        </p:txBody>
      </p:sp>
      <p:sp>
        <p:nvSpPr>
          <p:cNvPr id="29" name="文本">
            <a:extLst>
              <a:ext uri="{FF2B5EF4-FFF2-40B4-BE49-F238E27FC236}">
                <a16:creationId xmlns:a16="http://schemas.microsoft.com/office/drawing/2014/main" id="{43E1BEFE-5F45-49F2-2ACB-E9851B4E901C}"/>
              </a:ext>
            </a:extLst>
          </p:cNvPr>
          <p:cNvSpPr txBox="1"/>
          <p:nvPr/>
        </p:nvSpPr>
        <p:spPr>
          <a:xfrm>
            <a:off x="35751433" y="21175136"/>
            <a:ext cx="347209" cy="14465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rPr sz="8800">
                <a:latin typeface="Calibri"/>
                <a:ea typeface="Calibri"/>
                <a:cs typeface="Calibri"/>
              </a:rPr>
              <a:t> </a:t>
            </a:r>
          </a:p>
        </p:txBody>
      </p:sp>
      <p:sp>
        <p:nvSpPr>
          <p:cNvPr id="30" name="文本">
            <a:extLst>
              <a:ext uri="{FF2B5EF4-FFF2-40B4-BE49-F238E27FC236}">
                <a16:creationId xmlns:a16="http://schemas.microsoft.com/office/drawing/2014/main" id="{4F277688-92AA-C7FE-04B8-BE55576CBC3C}"/>
              </a:ext>
            </a:extLst>
          </p:cNvPr>
          <p:cNvSpPr txBox="1"/>
          <p:nvPr/>
        </p:nvSpPr>
        <p:spPr>
          <a:xfrm>
            <a:off x="35550225" y="20708476"/>
            <a:ext cx="138819" cy="415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defTabSz="457200">
              <a:lnSpc>
                <a:spcPts val="2800"/>
              </a:lnSpc>
              <a:defRPr sz="1200">
                <a:latin typeface="Times"/>
                <a:ea typeface="Times"/>
                <a:cs typeface="Times"/>
                <a:sym typeface="Times"/>
              </a:defRPr>
            </a:lvl1pPr>
          </a:lstStyle>
          <a:p>
            <a:r>
              <a:rPr sz="1600">
                <a:latin typeface="Calibri"/>
                <a:ea typeface="Calibri"/>
                <a:cs typeface="Calibri"/>
              </a:rPr>
              <a:t> </a:t>
            </a:r>
          </a:p>
        </p:txBody>
      </p:sp>
      <p:sp>
        <p:nvSpPr>
          <p:cNvPr id="31" name="Table1 Fuzzy rules">
            <a:extLst>
              <a:ext uri="{FF2B5EF4-FFF2-40B4-BE49-F238E27FC236}">
                <a16:creationId xmlns:a16="http://schemas.microsoft.com/office/drawing/2014/main" id="{11159F73-4BC2-6E6D-6BA5-57C20AA47B36}"/>
              </a:ext>
            </a:extLst>
          </p:cNvPr>
          <p:cNvSpPr txBox="1"/>
          <p:nvPr/>
        </p:nvSpPr>
        <p:spPr>
          <a:xfrm>
            <a:off x="21281627" y="20784509"/>
            <a:ext cx="92396" cy="14465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endParaRPr sz="8800">
              <a:latin typeface="Calibri"/>
              <a:ea typeface="Calibri"/>
              <a:cs typeface="Calibri"/>
            </a:endParaRPr>
          </a:p>
        </p:txBody>
      </p:sp>
      <p:sp>
        <p:nvSpPr>
          <p:cNvPr id="32" name="TextBox 31">
            <a:extLst>
              <a:ext uri="{FF2B5EF4-FFF2-40B4-BE49-F238E27FC236}">
                <a16:creationId xmlns:a16="http://schemas.microsoft.com/office/drawing/2014/main" id="{BFE7B188-5424-EC60-E382-EFD9F0226EA3}"/>
              </a:ext>
            </a:extLst>
          </p:cNvPr>
          <p:cNvSpPr txBox="1"/>
          <p:nvPr/>
        </p:nvSpPr>
        <p:spPr>
          <a:xfrm>
            <a:off x="1628569" y="13133679"/>
            <a:ext cx="13073638" cy="44012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just"/>
            <a:r>
              <a:rPr lang="en-US" altLang="zh-CN" sz="4000"/>
              <a:t>Potholes are a major road hazard in Detroit and can cause serious damage to vehicle tires, suspension, and alignment. Manual inspection methods are slow, labor-intensive, and difficult to scale. To address this problem, we developed a portable camera-based pothole detection system that uses lightweight deep learning models for real-time monitoring on edge-oriented hardware.</a:t>
            </a:r>
            <a:endParaRPr lang="en-US" sz="3600">
              <a:solidFill>
                <a:srgbClr val="0F1115"/>
              </a:solidFill>
              <a:latin typeface="Calibri"/>
              <a:ea typeface="Calibri"/>
              <a:cs typeface="Calibri"/>
            </a:endParaRPr>
          </a:p>
        </p:txBody>
      </p:sp>
      <p:grpSp>
        <p:nvGrpSpPr>
          <p:cNvPr id="41" name="CustomShape 12">
            <a:extLst>
              <a:ext uri="{FF2B5EF4-FFF2-40B4-BE49-F238E27FC236}">
                <a16:creationId xmlns:a16="http://schemas.microsoft.com/office/drawing/2014/main" id="{78D8BD76-72D3-D71E-12CB-3F15D97E80F3}"/>
              </a:ext>
            </a:extLst>
          </p:cNvPr>
          <p:cNvGrpSpPr/>
          <p:nvPr/>
        </p:nvGrpSpPr>
        <p:grpSpPr>
          <a:xfrm>
            <a:off x="28753454" y="16951643"/>
            <a:ext cx="13229684" cy="900064"/>
            <a:chOff x="0" y="-91980"/>
            <a:chExt cx="13229683" cy="900061"/>
          </a:xfrm>
        </p:grpSpPr>
        <p:sp>
          <p:nvSpPr>
            <p:cNvPr id="42" name="矩形">
              <a:extLst>
                <a:ext uri="{FF2B5EF4-FFF2-40B4-BE49-F238E27FC236}">
                  <a16:creationId xmlns:a16="http://schemas.microsoft.com/office/drawing/2014/main" id="{FFED5CBE-538E-8B19-0471-32085999F5E4}"/>
                </a:ext>
              </a:extLst>
            </p:cNvPr>
            <p:cNvSpPr/>
            <p:nvPr/>
          </p:nvSpPr>
          <p:spPr>
            <a:xfrm>
              <a:off x="0" y="16229"/>
              <a:ext cx="13229683" cy="683641"/>
            </a:xfrm>
            <a:prstGeom prst="rect">
              <a:avLst/>
            </a:prstGeom>
            <a:solidFill>
              <a:srgbClr val="376092"/>
            </a:solidFill>
            <a:ln w="12600" cap="flat">
              <a:solidFill>
                <a:srgbClr val="3A5F8B"/>
              </a:solidFill>
              <a:prstDash val="solid"/>
              <a:round/>
            </a:ln>
            <a:effectLst/>
          </p:spPr>
          <p:txBody>
            <a:bodyPr wrap="square" lIns="45719" tIns="45719" rIns="45719" bIns="45719" numCol="1" anchor="ctr">
              <a:noAutofit/>
            </a:bodyPr>
            <a:lstStyle/>
            <a:p>
              <a:pPr algn="ctr"/>
              <a:endParaRPr sz="8800">
                <a:latin typeface="Calibri"/>
                <a:ea typeface="Calibri"/>
                <a:cs typeface="Calibri"/>
              </a:endParaRPr>
            </a:p>
          </p:txBody>
        </p:sp>
        <p:sp>
          <p:nvSpPr>
            <p:cNvPr id="43" name="RESULTS">
              <a:extLst>
                <a:ext uri="{FF2B5EF4-FFF2-40B4-BE49-F238E27FC236}">
                  <a16:creationId xmlns:a16="http://schemas.microsoft.com/office/drawing/2014/main" id="{31F26F99-155E-4C7F-0C7B-A83358D9709D}"/>
                </a:ext>
              </a:extLst>
            </p:cNvPr>
            <p:cNvSpPr txBox="1"/>
            <p:nvPr/>
          </p:nvSpPr>
          <p:spPr>
            <a:xfrm>
              <a:off x="0" y="-91980"/>
              <a:ext cx="13229683" cy="90006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199" tIns="34199" rIns="34199" bIns="34199" numCol="1" anchor="ctr">
              <a:spAutoFit/>
            </a:bodyPr>
            <a:lstStyle>
              <a:defPPr>
                <a:defRPr lang="en-US"/>
              </a:defPPr>
              <a:lvl1pPr algn="ctr">
                <a:defRPr sz="5400" b="1">
                  <a:solidFill>
                    <a:srgbClr val="EBF1DE"/>
                  </a:solidFill>
                  <a:latin typeface="+mj-lt"/>
                  <a:ea typeface="+mj-ea"/>
                  <a:cs typeface="+mj-cs"/>
                </a:defRPr>
              </a:lvl1pPr>
            </a:lstStyle>
            <a:p>
              <a:r>
                <a:rPr lang="en-US"/>
                <a:t>Conclusion</a:t>
              </a:r>
            </a:p>
          </p:txBody>
        </p:sp>
      </p:grpSp>
      <p:sp>
        <p:nvSpPr>
          <p:cNvPr id="45" name="TextBox 44">
            <a:extLst>
              <a:ext uri="{FF2B5EF4-FFF2-40B4-BE49-F238E27FC236}">
                <a16:creationId xmlns:a16="http://schemas.microsoft.com/office/drawing/2014/main" id="{98BF1632-031B-C1CA-3F2C-934CC9090BD7}"/>
              </a:ext>
            </a:extLst>
          </p:cNvPr>
          <p:cNvSpPr txBox="1"/>
          <p:nvPr/>
        </p:nvSpPr>
        <p:spPr>
          <a:xfrm>
            <a:off x="1546137" y="12459872"/>
            <a:ext cx="13201650"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3200">
                <a:solidFill>
                  <a:schemeClr val="bg1">
                    <a:lumMod val="50000"/>
                  </a:schemeClr>
                </a:solidFill>
                <a:latin typeface="Calibri"/>
                <a:ea typeface="Calibri"/>
                <a:cs typeface="Calibri"/>
              </a:rPr>
              <a:t>Figure 1: Example pothole scenes illustrating road hazards and vehicle impact.</a:t>
            </a:r>
            <a:endParaRPr lang="en-GB" sz="3200">
              <a:solidFill>
                <a:schemeClr val="bg1">
                  <a:lumMod val="50000"/>
                </a:schemeClr>
              </a:solidFill>
              <a:latin typeface="Calibri"/>
              <a:ea typeface="Calibri"/>
              <a:cs typeface="Calibri"/>
            </a:endParaRPr>
          </a:p>
        </p:txBody>
      </p:sp>
      <p:sp>
        <p:nvSpPr>
          <p:cNvPr id="47" name="TextBox 46">
            <a:extLst>
              <a:ext uri="{FF2B5EF4-FFF2-40B4-BE49-F238E27FC236}">
                <a16:creationId xmlns:a16="http://schemas.microsoft.com/office/drawing/2014/main" id="{3BEF7CCE-F111-95FC-7B60-C97F96B499AF}"/>
              </a:ext>
            </a:extLst>
          </p:cNvPr>
          <p:cNvSpPr txBox="1"/>
          <p:nvPr/>
        </p:nvSpPr>
        <p:spPr>
          <a:xfrm>
            <a:off x="29071092" y="16258661"/>
            <a:ext cx="13201650"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3200">
                <a:solidFill>
                  <a:schemeClr val="bg1">
                    <a:lumMod val="50000"/>
                  </a:schemeClr>
                </a:solidFill>
                <a:latin typeface="Calibri"/>
                <a:ea typeface="Calibri"/>
                <a:cs typeface="Calibri"/>
              </a:rPr>
              <a:t>Figure 3: Detection Results</a:t>
            </a:r>
            <a:endParaRPr lang="en-GB" sz="3200">
              <a:solidFill>
                <a:schemeClr val="bg1">
                  <a:lumMod val="50000"/>
                </a:schemeClr>
              </a:solidFill>
              <a:latin typeface="Calibri"/>
              <a:ea typeface="Calibri"/>
              <a:cs typeface="Calibri"/>
            </a:endParaRPr>
          </a:p>
        </p:txBody>
      </p:sp>
      <p:grpSp>
        <p:nvGrpSpPr>
          <p:cNvPr id="50" name="CustomShape 12">
            <a:extLst>
              <a:ext uri="{FF2B5EF4-FFF2-40B4-BE49-F238E27FC236}">
                <a16:creationId xmlns:a16="http://schemas.microsoft.com/office/drawing/2014/main" id="{8C31B8D1-038E-F01E-BBB4-4DBE68E2C00D}"/>
              </a:ext>
            </a:extLst>
          </p:cNvPr>
          <p:cNvGrpSpPr/>
          <p:nvPr/>
        </p:nvGrpSpPr>
        <p:grpSpPr>
          <a:xfrm>
            <a:off x="1440372" y="22724933"/>
            <a:ext cx="13229684" cy="900064"/>
            <a:chOff x="0" y="-91980"/>
            <a:chExt cx="13229683" cy="900061"/>
          </a:xfrm>
        </p:grpSpPr>
        <p:sp>
          <p:nvSpPr>
            <p:cNvPr id="51" name="矩形">
              <a:extLst>
                <a:ext uri="{FF2B5EF4-FFF2-40B4-BE49-F238E27FC236}">
                  <a16:creationId xmlns:a16="http://schemas.microsoft.com/office/drawing/2014/main" id="{4789CEA1-A91B-BA63-AECF-EF038357BC55}"/>
                </a:ext>
              </a:extLst>
            </p:cNvPr>
            <p:cNvSpPr/>
            <p:nvPr/>
          </p:nvSpPr>
          <p:spPr>
            <a:xfrm>
              <a:off x="0" y="16229"/>
              <a:ext cx="13229683" cy="683641"/>
            </a:xfrm>
            <a:prstGeom prst="rect">
              <a:avLst/>
            </a:prstGeom>
            <a:solidFill>
              <a:srgbClr val="376092"/>
            </a:solidFill>
            <a:ln w="12600" cap="flat">
              <a:solidFill>
                <a:srgbClr val="3A5F8B"/>
              </a:solidFill>
              <a:prstDash val="solid"/>
              <a:round/>
            </a:ln>
            <a:effectLst/>
          </p:spPr>
          <p:txBody>
            <a:bodyPr wrap="square" lIns="45719" tIns="45719" rIns="45719" bIns="45719" numCol="1" anchor="ctr">
              <a:noAutofit/>
            </a:bodyPr>
            <a:lstStyle/>
            <a:p>
              <a:pPr algn="ctr"/>
              <a:endParaRPr sz="8800">
                <a:latin typeface="Calibri"/>
                <a:ea typeface="Calibri"/>
                <a:cs typeface="Calibri"/>
              </a:endParaRPr>
            </a:p>
          </p:txBody>
        </p:sp>
        <p:sp>
          <p:nvSpPr>
            <p:cNvPr id="52" name="RESULTS">
              <a:extLst>
                <a:ext uri="{FF2B5EF4-FFF2-40B4-BE49-F238E27FC236}">
                  <a16:creationId xmlns:a16="http://schemas.microsoft.com/office/drawing/2014/main" id="{0AD527D4-F24C-0F04-C6F7-6E386D415A3B}"/>
                </a:ext>
              </a:extLst>
            </p:cNvPr>
            <p:cNvSpPr txBox="1"/>
            <p:nvPr/>
          </p:nvSpPr>
          <p:spPr>
            <a:xfrm>
              <a:off x="0" y="-91980"/>
              <a:ext cx="13229683" cy="900061"/>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34199" tIns="34199" rIns="34199" bIns="34199" numCol="1" anchor="ctr">
              <a:spAutoFit/>
            </a:bodyPr>
            <a:lstStyle>
              <a:lvl1pPr algn="ctr">
                <a:defRPr sz="4400" b="1">
                  <a:solidFill>
                    <a:srgbClr val="EBF1DE"/>
                  </a:solidFill>
                  <a:latin typeface="+mj-lt"/>
                  <a:ea typeface="+mj-ea"/>
                  <a:cs typeface="+mj-cs"/>
                  <a:sym typeface="Calibri"/>
                </a:defRPr>
              </a:lvl1pPr>
            </a:lstStyle>
            <a:p>
              <a:r>
                <a:rPr lang="en-US" sz="5400"/>
                <a:t>Key Challenge</a:t>
              </a:r>
              <a:endParaRPr sz="5400"/>
            </a:p>
          </p:txBody>
        </p:sp>
      </p:grpSp>
      <p:pic>
        <p:nvPicPr>
          <p:cNvPr id="53" name="Picture 52">
            <a:extLst>
              <a:ext uri="{FF2B5EF4-FFF2-40B4-BE49-F238E27FC236}">
                <a16:creationId xmlns:a16="http://schemas.microsoft.com/office/drawing/2014/main" id="{0A19E228-7ED9-1D63-6DF3-89A0C2D8363D}"/>
              </a:ext>
            </a:extLst>
          </p:cNvPr>
          <p:cNvPicPr>
            <a:picLocks noChangeAspect="1"/>
          </p:cNvPicPr>
          <p:nvPr/>
        </p:nvPicPr>
        <p:blipFill>
          <a:blip r:embed="rId5"/>
          <a:stretch>
            <a:fillRect/>
          </a:stretch>
        </p:blipFill>
        <p:spPr>
          <a:xfrm>
            <a:off x="22068522" y="18287131"/>
            <a:ext cx="9525" cy="9525"/>
          </a:xfrm>
          <a:prstGeom prst="rect">
            <a:avLst/>
          </a:prstGeom>
        </p:spPr>
      </p:pic>
      <p:pic>
        <p:nvPicPr>
          <p:cNvPr id="54" name="Picture 53">
            <a:extLst>
              <a:ext uri="{FF2B5EF4-FFF2-40B4-BE49-F238E27FC236}">
                <a16:creationId xmlns:a16="http://schemas.microsoft.com/office/drawing/2014/main" id="{AA8C9366-7B2C-90DE-836B-C18E429488C9}"/>
              </a:ext>
            </a:extLst>
          </p:cNvPr>
          <p:cNvPicPr>
            <a:picLocks noChangeAspect="1"/>
          </p:cNvPicPr>
          <p:nvPr/>
        </p:nvPicPr>
        <p:blipFill>
          <a:blip r:embed="rId5"/>
          <a:stretch>
            <a:fillRect/>
          </a:stretch>
        </p:blipFill>
        <p:spPr>
          <a:xfrm>
            <a:off x="22068522" y="18287131"/>
            <a:ext cx="9525" cy="9525"/>
          </a:xfrm>
          <a:prstGeom prst="rect">
            <a:avLst/>
          </a:prstGeom>
        </p:spPr>
      </p:pic>
      <p:sp>
        <p:nvSpPr>
          <p:cNvPr id="58" name="TextBox 57">
            <a:extLst>
              <a:ext uri="{FF2B5EF4-FFF2-40B4-BE49-F238E27FC236}">
                <a16:creationId xmlns:a16="http://schemas.microsoft.com/office/drawing/2014/main" id="{07B30694-E87E-5630-6AEB-6272DD0B8696}"/>
              </a:ext>
            </a:extLst>
          </p:cNvPr>
          <p:cNvSpPr txBox="1"/>
          <p:nvPr/>
        </p:nvSpPr>
        <p:spPr>
          <a:xfrm>
            <a:off x="16372687" y="15603255"/>
            <a:ext cx="11029950"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3200">
                <a:solidFill>
                  <a:schemeClr val="bg1">
                    <a:lumMod val="50000"/>
                  </a:schemeClr>
                </a:solidFill>
                <a:latin typeface="Calibri"/>
                <a:ea typeface="Calibri"/>
                <a:cs typeface="Calibri"/>
              </a:rPr>
              <a:t>Figure 2: </a:t>
            </a:r>
            <a:r>
              <a:rPr lang="en-US" altLang="zh-CN" sz="3200">
                <a:solidFill>
                  <a:schemeClr val="bg1">
                    <a:lumMod val="50000"/>
                  </a:schemeClr>
                </a:solidFill>
                <a:latin typeface="Calibri"/>
                <a:ea typeface="Calibri"/>
                <a:cs typeface="Calibri"/>
              </a:rPr>
              <a:t>System Architecture.</a:t>
            </a:r>
            <a:endParaRPr lang="en-GB" sz="3200">
              <a:solidFill>
                <a:schemeClr val="bg1">
                  <a:lumMod val="50000"/>
                </a:schemeClr>
              </a:solidFill>
              <a:latin typeface="Calibri"/>
              <a:ea typeface="Calibri"/>
              <a:cs typeface="Calibri"/>
            </a:endParaRPr>
          </a:p>
        </p:txBody>
      </p:sp>
      <p:grpSp>
        <p:nvGrpSpPr>
          <p:cNvPr id="59" name="CustomShape 12">
            <a:extLst>
              <a:ext uri="{FF2B5EF4-FFF2-40B4-BE49-F238E27FC236}">
                <a16:creationId xmlns:a16="http://schemas.microsoft.com/office/drawing/2014/main" id="{C2164000-BE21-D97C-D90D-B3D588578D9E}"/>
              </a:ext>
            </a:extLst>
          </p:cNvPr>
          <p:cNvGrpSpPr/>
          <p:nvPr/>
        </p:nvGrpSpPr>
        <p:grpSpPr>
          <a:xfrm>
            <a:off x="28836084" y="24358974"/>
            <a:ext cx="13229684" cy="900064"/>
            <a:chOff x="0" y="-91980"/>
            <a:chExt cx="13229683" cy="900061"/>
          </a:xfrm>
        </p:grpSpPr>
        <p:sp>
          <p:nvSpPr>
            <p:cNvPr id="60" name="矩形">
              <a:extLst>
                <a:ext uri="{FF2B5EF4-FFF2-40B4-BE49-F238E27FC236}">
                  <a16:creationId xmlns:a16="http://schemas.microsoft.com/office/drawing/2014/main" id="{DA9B5F3E-C5ED-7253-FCE2-933B37DDFE50}"/>
                </a:ext>
              </a:extLst>
            </p:cNvPr>
            <p:cNvSpPr/>
            <p:nvPr/>
          </p:nvSpPr>
          <p:spPr>
            <a:xfrm>
              <a:off x="0" y="16229"/>
              <a:ext cx="13229683" cy="683641"/>
            </a:xfrm>
            <a:prstGeom prst="rect">
              <a:avLst/>
            </a:prstGeom>
            <a:solidFill>
              <a:srgbClr val="376092"/>
            </a:solidFill>
            <a:ln w="12600" cap="flat">
              <a:solidFill>
                <a:srgbClr val="3A5F8B"/>
              </a:solidFill>
              <a:prstDash val="solid"/>
              <a:round/>
            </a:ln>
            <a:effectLst/>
          </p:spPr>
          <p:txBody>
            <a:bodyPr wrap="square" lIns="45719" tIns="45719" rIns="45719" bIns="45719" numCol="1" anchor="ctr">
              <a:noAutofit/>
            </a:bodyPr>
            <a:lstStyle/>
            <a:p>
              <a:pPr algn="ctr"/>
              <a:endParaRPr sz="8800"/>
            </a:p>
          </p:txBody>
        </p:sp>
        <p:sp>
          <p:nvSpPr>
            <p:cNvPr id="61" name="RESULTS">
              <a:extLst>
                <a:ext uri="{FF2B5EF4-FFF2-40B4-BE49-F238E27FC236}">
                  <a16:creationId xmlns:a16="http://schemas.microsoft.com/office/drawing/2014/main" id="{18048C40-B5C1-9D58-C8CC-30C5A67C1308}"/>
                </a:ext>
              </a:extLst>
            </p:cNvPr>
            <p:cNvSpPr txBox="1"/>
            <p:nvPr/>
          </p:nvSpPr>
          <p:spPr>
            <a:xfrm>
              <a:off x="0" y="-91980"/>
              <a:ext cx="13229683" cy="90006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199" tIns="34199" rIns="34199" bIns="34199" numCol="1" anchor="ctr">
              <a:spAutoFit/>
            </a:bodyPr>
            <a:lstStyle>
              <a:lvl1pPr algn="ctr">
                <a:defRPr sz="4400" b="1">
                  <a:solidFill>
                    <a:srgbClr val="EBF1DE"/>
                  </a:solidFill>
                  <a:latin typeface="+mj-lt"/>
                  <a:ea typeface="+mj-ea"/>
                  <a:cs typeface="+mj-cs"/>
                  <a:sym typeface="Calibri"/>
                </a:defRPr>
              </a:lvl1pPr>
            </a:lstStyle>
            <a:p>
              <a:r>
                <a:rPr lang="en-US" sz="5400"/>
                <a:t>References</a:t>
              </a:r>
              <a:endParaRPr sz="5400"/>
            </a:p>
          </p:txBody>
        </p:sp>
      </p:grpSp>
      <p:sp>
        <p:nvSpPr>
          <p:cNvPr id="68" name="ABSTRACT">
            <a:extLst>
              <a:ext uri="{FF2B5EF4-FFF2-40B4-BE49-F238E27FC236}">
                <a16:creationId xmlns:a16="http://schemas.microsoft.com/office/drawing/2014/main" id="{F175B7B5-7904-1EB2-C647-5BF28F995D78}"/>
              </a:ext>
            </a:extLst>
          </p:cNvPr>
          <p:cNvSpPr txBox="1"/>
          <p:nvPr/>
        </p:nvSpPr>
        <p:spPr>
          <a:xfrm>
            <a:off x="1219818" y="6903730"/>
            <a:ext cx="13166531" cy="900063"/>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4199" tIns="34199" rIns="34199" bIns="34199" numCol="1" anchor="ctr">
            <a:spAutoFit/>
          </a:bodyPr>
          <a:lstStyle>
            <a:lvl1pPr algn="ctr">
              <a:defRPr sz="4400" b="1">
                <a:solidFill>
                  <a:srgbClr val="EBF1DE"/>
                </a:solidFill>
                <a:latin typeface="+mj-lt"/>
                <a:ea typeface="+mj-ea"/>
                <a:cs typeface="+mj-cs"/>
                <a:sym typeface="Calibri"/>
              </a:defRPr>
            </a:lvl1pPr>
          </a:lstStyle>
          <a:p>
            <a:r>
              <a:rPr lang="en-US" altLang="zh-CN" sz="5400"/>
              <a:t>Background &amp; Motivation</a:t>
            </a:r>
            <a:endParaRPr sz="5400"/>
          </a:p>
        </p:txBody>
      </p:sp>
      <p:sp>
        <p:nvSpPr>
          <p:cNvPr id="71" name="TextBox 70">
            <a:extLst>
              <a:ext uri="{FF2B5EF4-FFF2-40B4-BE49-F238E27FC236}">
                <a16:creationId xmlns:a16="http://schemas.microsoft.com/office/drawing/2014/main" id="{3827F0FD-5F48-31B7-19AE-02AE0C9467AA}"/>
              </a:ext>
            </a:extLst>
          </p:cNvPr>
          <p:cNvSpPr txBox="1"/>
          <p:nvPr/>
        </p:nvSpPr>
        <p:spPr>
          <a:xfrm>
            <a:off x="1550426" y="18992720"/>
            <a:ext cx="13073638" cy="31700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just"/>
            <a:r>
              <a:rPr lang="en-US" altLang="zh-CN" sz="4000"/>
              <a:t>Can a lightweight pothole detection model be integrated into a practical real-time monitoring system using Raspberry Pi 5 and a hybrid inference pipeline, while maintaining a good balance between detection accuracy and deployment efficiency?</a:t>
            </a:r>
            <a:endParaRPr lang="en-US" sz="3600">
              <a:solidFill>
                <a:srgbClr val="0F1115"/>
              </a:solidFill>
              <a:latin typeface="Calibri"/>
              <a:ea typeface="Calibri"/>
              <a:cs typeface="Calibri"/>
            </a:endParaRPr>
          </a:p>
        </p:txBody>
      </p:sp>
      <p:sp>
        <p:nvSpPr>
          <p:cNvPr id="77" name="TextBox 76">
            <a:extLst>
              <a:ext uri="{FF2B5EF4-FFF2-40B4-BE49-F238E27FC236}">
                <a16:creationId xmlns:a16="http://schemas.microsoft.com/office/drawing/2014/main" id="{3E26245C-049E-2D85-1427-E4EDD1B6B771}"/>
              </a:ext>
            </a:extLst>
          </p:cNvPr>
          <p:cNvSpPr txBox="1"/>
          <p:nvPr/>
        </p:nvSpPr>
        <p:spPr>
          <a:xfrm>
            <a:off x="1607196" y="23919413"/>
            <a:ext cx="13073638" cy="56323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marL="571500" indent="-571500" algn="just">
              <a:buFont typeface="Arial" panose="020B0604020202020204" pitchFamily="34" charset="0"/>
              <a:buChar char="•"/>
            </a:pPr>
            <a:r>
              <a:rPr lang="en-US" altLang="zh-CN" sz="4000" b="1"/>
              <a:t>Real-Time Latency</a:t>
            </a:r>
            <a:r>
              <a:rPr lang="en-US" altLang="zh-CN" sz="4000"/>
              <a:t>: The system must process live video streams quickly enough for practical monitoring, but edge hardware has limited compute resources.</a:t>
            </a:r>
          </a:p>
          <a:p>
            <a:pPr marL="571500" indent="-571500" algn="just">
              <a:buFont typeface="Arial" panose="020B0604020202020204" pitchFamily="34" charset="0"/>
              <a:buChar char="•"/>
            </a:pPr>
            <a:r>
              <a:rPr lang="en-US" altLang="zh-CN" sz="4000" b="1"/>
              <a:t>Accuracy–Efficiency Trade-off</a:t>
            </a:r>
            <a:r>
              <a:rPr lang="en-US" altLang="zh-CN" sz="4000"/>
              <a:t>: Lightweight models are faster and easier to deploy, but detection accuracy must remain strong enough for real pothole scenarios.</a:t>
            </a:r>
          </a:p>
          <a:p>
            <a:pPr marL="571500" indent="-571500" algn="just">
              <a:buFont typeface="Arial" panose="020B0604020202020204" pitchFamily="34" charset="0"/>
              <a:buChar char="•"/>
            </a:pPr>
            <a:r>
              <a:rPr lang="en-US" altLang="zh-CN" sz="4000" b="1"/>
              <a:t>Generalization to Real Roads</a:t>
            </a:r>
            <a:r>
              <a:rPr lang="en-US" altLang="zh-CN" sz="4000"/>
              <a:t>: The model must handle real-world road conditions, including lighting variation, motion blur, camera angle changes, and small distant potholes.</a:t>
            </a:r>
            <a:endParaRPr lang="en-US" sz="3600">
              <a:solidFill>
                <a:srgbClr val="0F1115"/>
              </a:solidFill>
              <a:latin typeface="Calibri"/>
              <a:ea typeface="Calibri"/>
              <a:cs typeface="Calibri"/>
            </a:endParaRPr>
          </a:p>
        </p:txBody>
      </p:sp>
      <p:grpSp>
        <p:nvGrpSpPr>
          <p:cNvPr id="106" name="Group 105">
            <a:extLst>
              <a:ext uri="{FF2B5EF4-FFF2-40B4-BE49-F238E27FC236}">
                <a16:creationId xmlns:a16="http://schemas.microsoft.com/office/drawing/2014/main" id="{519465F6-D840-3A05-B910-A24F597257D5}"/>
              </a:ext>
            </a:extLst>
          </p:cNvPr>
          <p:cNvGrpSpPr/>
          <p:nvPr/>
        </p:nvGrpSpPr>
        <p:grpSpPr>
          <a:xfrm>
            <a:off x="2779907" y="8528733"/>
            <a:ext cx="10661896" cy="3711031"/>
            <a:chOff x="8524666" y="7566540"/>
            <a:chExt cx="10351699" cy="3378527"/>
          </a:xfrm>
        </p:grpSpPr>
        <p:pic>
          <p:nvPicPr>
            <p:cNvPr id="103" name="Picture 102">
              <a:extLst>
                <a:ext uri="{FF2B5EF4-FFF2-40B4-BE49-F238E27FC236}">
                  <a16:creationId xmlns:a16="http://schemas.microsoft.com/office/drawing/2014/main" id="{62000F46-DDC9-0F1C-46E0-19C010CD609B}"/>
                </a:ext>
              </a:extLst>
            </p:cNvPr>
            <p:cNvPicPr>
              <a:picLocks noChangeAspect="1"/>
            </p:cNvPicPr>
            <p:nvPr/>
          </p:nvPicPr>
          <p:blipFill>
            <a:blip r:embed="rId6"/>
            <a:srcRect b="14917"/>
            <a:stretch>
              <a:fillRect/>
            </a:stretch>
          </p:blipFill>
          <p:spPr>
            <a:xfrm>
              <a:off x="8524666" y="7592188"/>
              <a:ext cx="4666404" cy="3335773"/>
            </a:xfrm>
            <a:prstGeom prst="rect">
              <a:avLst/>
            </a:prstGeom>
          </p:spPr>
        </p:pic>
        <p:pic>
          <p:nvPicPr>
            <p:cNvPr id="105" name="Picture 104" descr="白色的汽车&#10;&#10;AI 生成的内容可能不正确。">
              <a:extLst>
                <a:ext uri="{FF2B5EF4-FFF2-40B4-BE49-F238E27FC236}">
                  <a16:creationId xmlns:a16="http://schemas.microsoft.com/office/drawing/2014/main" id="{20D2B2D9-34F6-C41B-7D16-838F942B1688}"/>
                </a:ext>
              </a:extLst>
            </p:cNvPr>
            <p:cNvPicPr>
              <a:picLocks noChangeAspect="1"/>
            </p:cNvPicPr>
            <p:nvPr/>
          </p:nvPicPr>
          <p:blipFill>
            <a:blip r:embed="rId7"/>
            <a:stretch>
              <a:fillRect/>
            </a:stretch>
          </p:blipFill>
          <p:spPr>
            <a:xfrm>
              <a:off x="13191070" y="7566540"/>
              <a:ext cx="5685295" cy="3378527"/>
            </a:xfrm>
            <a:prstGeom prst="rect">
              <a:avLst/>
            </a:prstGeom>
          </p:spPr>
        </p:pic>
      </p:grpSp>
      <p:grpSp>
        <p:nvGrpSpPr>
          <p:cNvPr id="108" name="CustomShape 12">
            <a:extLst>
              <a:ext uri="{FF2B5EF4-FFF2-40B4-BE49-F238E27FC236}">
                <a16:creationId xmlns:a16="http://schemas.microsoft.com/office/drawing/2014/main" id="{0F49F81C-BF6D-40F5-30F9-2D564B4B0A86}"/>
              </a:ext>
            </a:extLst>
          </p:cNvPr>
          <p:cNvGrpSpPr/>
          <p:nvPr/>
        </p:nvGrpSpPr>
        <p:grpSpPr>
          <a:xfrm>
            <a:off x="15112062" y="6945098"/>
            <a:ext cx="13355521" cy="900063"/>
            <a:chOff x="0" y="-65954"/>
            <a:chExt cx="13229683" cy="848007"/>
          </a:xfrm>
        </p:grpSpPr>
        <p:sp>
          <p:nvSpPr>
            <p:cNvPr id="109" name="矩形">
              <a:extLst>
                <a:ext uri="{FF2B5EF4-FFF2-40B4-BE49-F238E27FC236}">
                  <a16:creationId xmlns:a16="http://schemas.microsoft.com/office/drawing/2014/main" id="{E21371B9-4AC6-9F72-B0F9-DD80E4EC7AAA}"/>
                </a:ext>
              </a:extLst>
            </p:cNvPr>
            <p:cNvSpPr/>
            <p:nvPr/>
          </p:nvSpPr>
          <p:spPr>
            <a:xfrm>
              <a:off x="0" y="16229"/>
              <a:ext cx="13229683" cy="683641"/>
            </a:xfrm>
            <a:prstGeom prst="rect">
              <a:avLst/>
            </a:prstGeom>
            <a:solidFill>
              <a:srgbClr val="376092"/>
            </a:solidFill>
            <a:ln w="12600" cap="flat">
              <a:solidFill>
                <a:srgbClr val="3A5F8B"/>
              </a:solidFill>
              <a:prstDash val="solid"/>
              <a:round/>
            </a:ln>
            <a:effectLst/>
          </p:spPr>
          <p:txBody>
            <a:bodyPr wrap="square" lIns="45719" tIns="45719" rIns="45719" bIns="45719" numCol="1" anchor="ctr">
              <a:noAutofit/>
            </a:bodyPr>
            <a:lstStyle/>
            <a:p>
              <a:pPr algn="ctr"/>
              <a:endParaRPr sz="8800">
                <a:latin typeface="Calibri"/>
                <a:ea typeface="Calibri"/>
                <a:cs typeface="Calibri"/>
              </a:endParaRPr>
            </a:p>
          </p:txBody>
        </p:sp>
        <p:sp>
          <p:nvSpPr>
            <p:cNvPr id="110" name="RESULTS">
              <a:extLst>
                <a:ext uri="{FF2B5EF4-FFF2-40B4-BE49-F238E27FC236}">
                  <a16:creationId xmlns:a16="http://schemas.microsoft.com/office/drawing/2014/main" id="{3EB6BD51-D0A8-BA02-7B89-E9F84FA08FD9}"/>
                </a:ext>
              </a:extLst>
            </p:cNvPr>
            <p:cNvSpPr txBox="1"/>
            <p:nvPr/>
          </p:nvSpPr>
          <p:spPr>
            <a:xfrm>
              <a:off x="0" y="-65954"/>
              <a:ext cx="13229683" cy="848007"/>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34199" tIns="34199" rIns="34199" bIns="34199" numCol="1" anchor="ctr">
              <a:spAutoFit/>
            </a:bodyPr>
            <a:lstStyle>
              <a:lvl1pPr algn="ctr">
                <a:defRPr sz="4400" b="1">
                  <a:solidFill>
                    <a:srgbClr val="EBF1DE"/>
                  </a:solidFill>
                  <a:latin typeface="+mj-lt"/>
                  <a:ea typeface="+mj-ea"/>
                  <a:cs typeface="+mj-cs"/>
                  <a:sym typeface="Calibri"/>
                </a:defRPr>
              </a:lvl1pPr>
            </a:lstStyle>
            <a:p>
              <a:r>
                <a:rPr lang="en-US" sz="5400"/>
                <a:t>Proposed Methods</a:t>
              </a:r>
              <a:endParaRPr sz="5400"/>
            </a:p>
          </p:txBody>
        </p:sp>
      </p:grpSp>
      <p:grpSp>
        <p:nvGrpSpPr>
          <p:cNvPr id="118" name="CustomShape 12">
            <a:extLst>
              <a:ext uri="{FF2B5EF4-FFF2-40B4-BE49-F238E27FC236}">
                <a16:creationId xmlns:a16="http://schemas.microsoft.com/office/drawing/2014/main" id="{780BCB6A-939B-4CD3-DA2D-DC656919C186}"/>
              </a:ext>
            </a:extLst>
          </p:cNvPr>
          <p:cNvGrpSpPr/>
          <p:nvPr/>
        </p:nvGrpSpPr>
        <p:grpSpPr>
          <a:xfrm>
            <a:off x="15237175" y="16371176"/>
            <a:ext cx="13347586" cy="900062"/>
            <a:chOff x="0" y="-6382"/>
            <a:chExt cx="13229683" cy="728866"/>
          </a:xfrm>
        </p:grpSpPr>
        <p:sp>
          <p:nvSpPr>
            <p:cNvPr id="119" name="矩形">
              <a:extLst>
                <a:ext uri="{FF2B5EF4-FFF2-40B4-BE49-F238E27FC236}">
                  <a16:creationId xmlns:a16="http://schemas.microsoft.com/office/drawing/2014/main" id="{89DB6C87-C778-05DD-E4EC-EDE5CF0D9EA6}"/>
                </a:ext>
              </a:extLst>
            </p:cNvPr>
            <p:cNvSpPr/>
            <p:nvPr/>
          </p:nvSpPr>
          <p:spPr>
            <a:xfrm>
              <a:off x="0" y="16229"/>
              <a:ext cx="13229683" cy="683641"/>
            </a:xfrm>
            <a:prstGeom prst="rect">
              <a:avLst/>
            </a:prstGeom>
            <a:solidFill>
              <a:srgbClr val="376092"/>
            </a:solidFill>
            <a:ln w="12600" cap="flat">
              <a:solidFill>
                <a:srgbClr val="3A5F8B"/>
              </a:solidFill>
              <a:prstDash val="solid"/>
              <a:round/>
            </a:ln>
            <a:effectLst/>
          </p:spPr>
          <p:txBody>
            <a:bodyPr wrap="square" lIns="45719" tIns="45719" rIns="45719" bIns="45719" numCol="1" anchor="ctr">
              <a:noAutofit/>
            </a:bodyPr>
            <a:lstStyle/>
            <a:p>
              <a:pPr algn="ctr"/>
              <a:endParaRPr sz="8800">
                <a:latin typeface="Calibri"/>
                <a:ea typeface="Calibri"/>
                <a:cs typeface="Calibri"/>
              </a:endParaRPr>
            </a:p>
          </p:txBody>
        </p:sp>
        <p:sp>
          <p:nvSpPr>
            <p:cNvPr id="120" name="RESULTS">
              <a:extLst>
                <a:ext uri="{FF2B5EF4-FFF2-40B4-BE49-F238E27FC236}">
                  <a16:creationId xmlns:a16="http://schemas.microsoft.com/office/drawing/2014/main" id="{1F853EFC-19F6-7D2C-16E5-BD89EDCCF056}"/>
                </a:ext>
              </a:extLst>
            </p:cNvPr>
            <p:cNvSpPr txBox="1"/>
            <p:nvPr/>
          </p:nvSpPr>
          <p:spPr>
            <a:xfrm>
              <a:off x="0" y="-6382"/>
              <a:ext cx="13229683" cy="728866"/>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34199" tIns="34199" rIns="34199" bIns="34199" numCol="1" anchor="ctr">
              <a:spAutoFit/>
            </a:bodyPr>
            <a:lstStyle>
              <a:lvl1pPr algn="ctr">
                <a:defRPr sz="4400" b="1">
                  <a:solidFill>
                    <a:srgbClr val="EBF1DE"/>
                  </a:solidFill>
                  <a:latin typeface="+mj-lt"/>
                  <a:ea typeface="+mj-ea"/>
                  <a:cs typeface="+mj-cs"/>
                  <a:sym typeface="Calibri"/>
                </a:defRPr>
              </a:lvl1pPr>
            </a:lstStyle>
            <a:p>
              <a:r>
                <a:rPr lang="en-US" altLang="zh-CN" sz="5400"/>
                <a:t>Model Selection &amp; Deployment Comparison</a:t>
              </a:r>
            </a:p>
          </p:txBody>
        </p:sp>
      </p:grpSp>
      <p:grpSp>
        <p:nvGrpSpPr>
          <p:cNvPr id="121" name="CustomShape 12">
            <a:extLst>
              <a:ext uri="{FF2B5EF4-FFF2-40B4-BE49-F238E27FC236}">
                <a16:creationId xmlns:a16="http://schemas.microsoft.com/office/drawing/2014/main" id="{34318971-456A-293A-E322-F68C860303D2}"/>
              </a:ext>
            </a:extLst>
          </p:cNvPr>
          <p:cNvGrpSpPr/>
          <p:nvPr/>
        </p:nvGrpSpPr>
        <p:grpSpPr>
          <a:xfrm>
            <a:off x="28718182" y="6878565"/>
            <a:ext cx="13347586" cy="900063"/>
            <a:chOff x="0" y="-39646"/>
            <a:chExt cx="13229683" cy="795396"/>
          </a:xfrm>
        </p:grpSpPr>
        <p:sp>
          <p:nvSpPr>
            <p:cNvPr id="122" name="矩形">
              <a:extLst>
                <a:ext uri="{FF2B5EF4-FFF2-40B4-BE49-F238E27FC236}">
                  <a16:creationId xmlns:a16="http://schemas.microsoft.com/office/drawing/2014/main" id="{4696C1CD-D31D-DFBF-C9B3-E2B92E914726}"/>
                </a:ext>
              </a:extLst>
            </p:cNvPr>
            <p:cNvSpPr/>
            <p:nvPr/>
          </p:nvSpPr>
          <p:spPr>
            <a:xfrm>
              <a:off x="0" y="16229"/>
              <a:ext cx="13229683" cy="683641"/>
            </a:xfrm>
            <a:prstGeom prst="rect">
              <a:avLst/>
            </a:prstGeom>
            <a:solidFill>
              <a:srgbClr val="376092"/>
            </a:solidFill>
            <a:ln w="12600" cap="flat">
              <a:solidFill>
                <a:srgbClr val="3A5F8B"/>
              </a:solidFill>
              <a:prstDash val="solid"/>
              <a:round/>
            </a:ln>
            <a:effectLst/>
          </p:spPr>
          <p:txBody>
            <a:bodyPr wrap="square" lIns="45719" tIns="45719" rIns="45719" bIns="45719" numCol="1" anchor="ctr">
              <a:noAutofit/>
            </a:bodyPr>
            <a:lstStyle/>
            <a:p>
              <a:pPr algn="ctr"/>
              <a:endParaRPr sz="8800">
                <a:latin typeface="Calibri"/>
                <a:ea typeface="Calibri"/>
                <a:cs typeface="Calibri"/>
              </a:endParaRPr>
            </a:p>
          </p:txBody>
        </p:sp>
        <p:sp>
          <p:nvSpPr>
            <p:cNvPr id="123" name="RESULTS">
              <a:extLst>
                <a:ext uri="{FF2B5EF4-FFF2-40B4-BE49-F238E27FC236}">
                  <a16:creationId xmlns:a16="http://schemas.microsoft.com/office/drawing/2014/main" id="{628F4CB8-67B0-7B20-C7F4-DE251030CC8A}"/>
                </a:ext>
              </a:extLst>
            </p:cNvPr>
            <p:cNvSpPr txBox="1"/>
            <p:nvPr/>
          </p:nvSpPr>
          <p:spPr>
            <a:xfrm>
              <a:off x="0" y="-39646"/>
              <a:ext cx="13229683" cy="795396"/>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34199" tIns="34199" rIns="34199" bIns="34199" numCol="1" anchor="ctr">
              <a:spAutoFit/>
            </a:bodyPr>
            <a:lstStyle>
              <a:lvl1pPr algn="ctr">
                <a:defRPr sz="4400" b="1">
                  <a:solidFill>
                    <a:srgbClr val="EBF1DE"/>
                  </a:solidFill>
                  <a:latin typeface="+mj-lt"/>
                  <a:ea typeface="+mj-ea"/>
                  <a:cs typeface="+mj-cs"/>
                  <a:sym typeface="Calibri"/>
                </a:defRPr>
              </a:lvl1pPr>
            </a:lstStyle>
            <a:p>
              <a:r>
                <a:rPr lang="en-US" altLang="zh-CN" sz="5400"/>
                <a:t>Detection Results</a:t>
              </a:r>
            </a:p>
          </p:txBody>
        </p:sp>
      </p:grpSp>
      <p:graphicFrame>
        <p:nvGraphicFramePr>
          <p:cNvPr id="7" name="表格 6">
            <a:extLst>
              <a:ext uri="{FF2B5EF4-FFF2-40B4-BE49-F238E27FC236}">
                <a16:creationId xmlns:a16="http://schemas.microsoft.com/office/drawing/2014/main" id="{03671437-E954-CAE6-BA40-FA59C9204943}"/>
              </a:ext>
            </a:extLst>
          </p:cNvPr>
          <p:cNvGraphicFramePr>
            <a:graphicFrameLocks noGrp="1"/>
          </p:cNvGraphicFramePr>
          <p:nvPr>
            <p:extLst>
              <p:ext uri="{D42A27DB-BD31-4B8C-83A1-F6EECF244321}">
                <p14:modId xmlns:p14="http://schemas.microsoft.com/office/powerpoint/2010/main" val="3660310756"/>
              </p:ext>
            </p:extLst>
          </p:nvPr>
        </p:nvGraphicFramePr>
        <p:xfrm>
          <a:off x="15940570" y="26791436"/>
          <a:ext cx="12003307" cy="3541680"/>
        </p:xfrm>
        <a:graphic>
          <a:graphicData uri="http://schemas.openxmlformats.org/drawingml/2006/table">
            <a:tbl>
              <a:tblPr firstRow="1" bandRow="1">
                <a:tableStyleId>{5C22544A-7EE6-4342-B048-85BDC9FD1C3A}</a:tableStyleId>
              </a:tblPr>
              <a:tblGrid>
                <a:gridCol w="3531114">
                  <a:extLst>
                    <a:ext uri="{9D8B030D-6E8A-4147-A177-3AD203B41FA5}">
                      <a16:colId xmlns:a16="http://schemas.microsoft.com/office/drawing/2014/main" val="744740512"/>
                    </a:ext>
                  </a:extLst>
                </a:gridCol>
                <a:gridCol w="3531114">
                  <a:extLst>
                    <a:ext uri="{9D8B030D-6E8A-4147-A177-3AD203B41FA5}">
                      <a16:colId xmlns:a16="http://schemas.microsoft.com/office/drawing/2014/main" val="3944329459"/>
                    </a:ext>
                  </a:extLst>
                </a:gridCol>
                <a:gridCol w="1409965">
                  <a:extLst>
                    <a:ext uri="{9D8B030D-6E8A-4147-A177-3AD203B41FA5}">
                      <a16:colId xmlns:a16="http://schemas.microsoft.com/office/drawing/2014/main" val="2040173919"/>
                    </a:ext>
                  </a:extLst>
                </a:gridCol>
                <a:gridCol w="3531114">
                  <a:extLst>
                    <a:ext uri="{9D8B030D-6E8A-4147-A177-3AD203B41FA5}">
                      <a16:colId xmlns:a16="http://schemas.microsoft.com/office/drawing/2014/main" val="877443401"/>
                    </a:ext>
                  </a:extLst>
                </a:gridCol>
              </a:tblGrid>
              <a:tr h="1047982">
                <a:tc>
                  <a:txBody>
                    <a:bodyPr/>
                    <a:lstStyle/>
                    <a:p>
                      <a:pPr algn="ctr" fontAlgn="ctr">
                        <a:buNone/>
                      </a:pPr>
                      <a:r>
                        <a:rPr lang="en-US" sz="3600" b="1" i="0" u="none" strike="noStrike">
                          <a:solidFill>
                            <a:srgbClr val="000000"/>
                          </a:solidFill>
                          <a:effectLst/>
                          <a:latin typeface="等线" panose="02010600030101010101" pitchFamily="2" charset="-122"/>
                          <a:ea typeface="等线" panose="02010600030101010101" pitchFamily="2" charset="-122"/>
                        </a:rPr>
                        <a:t>Method</a:t>
                      </a: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pPr algn="ctr" fontAlgn="ctr">
                        <a:buNone/>
                      </a:pPr>
                      <a:r>
                        <a:rPr lang="en-US" sz="3600" b="1" i="0" u="none" strike="noStrike">
                          <a:solidFill>
                            <a:srgbClr val="000000"/>
                          </a:solidFill>
                          <a:effectLst/>
                          <a:latin typeface="等线" panose="02010600030101010101" pitchFamily="2" charset="-122"/>
                          <a:ea typeface="等线" panose="02010600030101010101" pitchFamily="2" charset="-122"/>
                        </a:rPr>
                        <a:t>Latency(</a:t>
                      </a:r>
                      <a:r>
                        <a:rPr lang="en-US" sz="3600" b="1" i="0" u="none" strike="noStrike" err="1">
                          <a:solidFill>
                            <a:srgbClr val="000000"/>
                          </a:solidFill>
                          <a:effectLst/>
                          <a:latin typeface="等线" panose="02010600030101010101" pitchFamily="2" charset="-122"/>
                          <a:ea typeface="等线" panose="02010600030101010101" pitchFamily="2" charset="-122"/>
                        </a:rPr>
                        <a:t>ms</a:t>
                      </a:r>
                      <a:r>
                        <a:rPr lang="en-US" sz="3600" b="1" i="0" u="none" strike="noStrike">
                          <a:solidFill>
                            <a:srgbClr val="000000"/>
                          </a:solidFill>
                          <a:effectLst/>
                          <a:latin typeface="等线" panose="02010600030101010101" pitchFamily="2" charset="-122"/>
                          <a:ea typeface="等线" panose="02010600030101010101" pitchFamily="2" charset="-122"/>
                        </a:rPr>
                        <a:t>)</a:t>
                      </a: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pPr algn="ctr" fontAlgn="ctr">
                        <a:buNone/>
                      </a:pPr>
                      <a:r>
                        <a:rPr lang="en-US" sz="3600" b="1" i="0" u="none" strike="noStrike">
                          <a:solidFill>
                            <a:srgbClr val="000000"/>
                          </a:solidFill>
                          <a:effectLst/>
                          <a:latin typeface="等线" panose="02010600030101010101" pitchFamily="2" charset="-122"/>
                          <a:ea typeface="等线" panose="02010600030101010101" pitchFamily="2" charset="-122"/>
                        </a:rPr>
                        <a:t>FPS </a:t>
                      </a: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tc>
                  <a:txBody>
                    <a:bodyPr/>
                    <a:lstStyle/>
                    <a:p>
                      <a:pPr algn="ctr" fontAlgn="ctr">
                        <a:buNone/>
                      </a:pPr>
                      <a:r>
                        <a:rPr lang="en-US" sz="3600" b="1" i="0" u="none" strike="noStrike">
                          <a:solidFill>
                            <a:srgbClr val="000000"/>
                          </a:solidFill>
                          <a:effectLst/>
                          <a:latin typeface="等线" panose="02010600030101010101" pitchFamily="2" charset="-122"/>
                          <a:ea typeface="等线" panose="02010600030101010101" pitchFamily="2" charset="-122"/>
                        </a:rPr>
                        <a:t>Total Detections </a:t>
                      </a:r>
                      <a:br>
                        <a:rPr lang="en-US" sz="3600" b="1" i="0" u="none" strike="noStrike">
                          <a:solidFill>
                            <a:srgbClr val="000000"/>
                          </a:solidFill>
                          <a:effectLst/>
                          <a:latin typeface="等线" panose="02010600030101010101" pitchFamily="2" charset="-122"/>
                          <a:ea typeface="等线" panose="02010600030101010101" pitchFamily="2" charset="-122"/>
                        </a:rPr>
                      </a:br>
                      <a:r>
                        <a:rPr lang="en-US" sz="3600" b="1" i="0" u="none" strike="noStrike">
                          <a:solidFill>
                            <a:srgbClr val="000000"/>
                          </a:solidFill>
                          <a:effectLst/>
                          <a:latin typeface="等线" panose="02010600030101010101" pitchFamily="2" charset="-122"/>
                          <a:ea typeface="等线" panose="02010600030101010101" pitchFamily="2" charset="-122"/>
                        </a:rPr>
                        <a:t>(15 s video)</a:t>
                      </a:r>
                    </a:p>
                  </a:txBody>
                  <a:tcPr marL="7620" marR="7620" marT="7620" marB="0"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40000"/>
                        <a:lumOff val="60000"/>
                      </a:schemeClr>
                    </a:solidFill>
                  </a:tcPr>
                </a:tc>
                <a:extLst>
                  <a:ext uri="{0D108BD9-81ED-4DB2-BD59-A6C34878D82A}">
                    <a16:rowId xmlns:a16="http://schemas.microsoft.com/office/drawing/2014/main" val="2073318357"/>
                  </a:ext>
                </a:extLst>
              </a:tr>
              <a:tr h="609195">
                <a:tc>
                  <a:txBody>
                    <a:bodyPr/>
                    <a:lstStyle/>
                    <a:p>
                      <a:pPr algn="ctr" fontAlgn="ctr">
                        <a:buNone/>
                      </a:pPr>
                      <a:r>
                        <a:rPr lang="en-US" sz="3600" b="0" i="0" u="none" strike="noStrike">
                          <a:solidFill>
                            <a:srgbClr val="000000"/>
                          </a:solidFill>
                          <a:effectLst/>
                          <a:latin typeface="等线" panose="02010600030101010101" pitchFamily="2" charset="-122"/>
                          <a:ea typeface="等线" panose="02010600030101010101" pitchFamily="2" charset="-122"/>
                        </a:rPr>
                        <a:t>PT Local</a:t>
                      </a:r>
                    </a:p>
                  </a:txBody>
                  <a:tcPr marL="7620" marR="7620" marT="762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285.88</a:t>
                      </a:r>
                    </a:p>
                  </a:txBody>
                  <a:tcPr marL="7620" marR="7620" marT="762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3.52</a:t>
                      </a:r>
                    </a:p>
                  </a:txBody>
                  <a:tcPr marL="7620" marR="7620" marT="762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261</a:t>
                      </a:r>
                    </a:p>
                  </a:txBody>
                  <a:tcPr marL="7620" marR="7620" marT="762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663977"/>
                  </a:ext>
                </a:extLst>
              </a:tr>
              <a:tr h="609195">
                <a:tc>
                  <a:txBody>
                    <a:bodyPr/>
                    <a:lstStyle/>
                    <a:p>
                      <a:pPr algn="ctr" fontAlgn="ctr">
                        <a:buNone/>
                      </a:pPr>
                      <a:r>
                        <a:rPr lang="en-US" sz="3600" b="0" i="0" u="none" strike="noStrike">
                          <a:solidFill>
                            <a:srgbClr val="000000"/>
                          </a:solidFill>
                          <a:effectLst/>
                          <a:latin typeface="等线" panose="02010600030101010101" pitchFamily="2" charset="-122"/>
                          <a:ea typeface="等线" panose="02010600030101010101" pitchFamily="2" charset="-122"/>
                        </a:rPr>
                        <a:t>ONNX Local</a:t>
                      </a:r>
                    </a:p>
                  </a:txBody>
                  <a:tcPr marL="7620" marR="7620" marT="762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199.98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5.02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281</a:t>
                      </a:r>
                    </a:p>
                  </a:txBody>
                  <a:tcPr marL="7620" marR="7620" marT="7620"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5438300"/>
                  </a:ext>
                </a:extLst>
              </a:tr>
              <a:tr h="609195">
                <a:tc>
                  <a:txBody>
                    <a:bodyPr/>
                    <a:lstStyle/>
                    <a:p>
                      <a:pPr algn="ctr" fontAlgn="ctr">
                        <a:buNone/>
                      </a:pPr>
                      <a:r>
                        <a:rPr lang="en-US" sz="3600" b="0" i="0" u="none" strike="noStrike" err="1">
                          <a:solidFill>
                            <a:srgbClr val="000000"/>
                          </a:solidFill>
                          <a:effectLst/>
                          <a:latin typeface="等线" panose="02010600030101010101" pitchFamily="2" charset="-122"/>
                          <a:ea typeface="等线" panose="02010600030101010101" pitchFamily="2" charset="-122"/>
                        </a:rPr>
                        <a:t>TFLite</a:t>
                      </a:r>
                      <a:r>
                        <a:rPr lang="en-US" sz="3600" b="0" i="0" u="none" strike="noStrike">
                          <a:solidFill>
                            <a:srgbClr val="000000"/>
                          </a:solidFill>
                          <a:effectLst/>
                          <a:latin typeface="等线" panose="02010600030101010101" pitchFamily="2" charset="-122"/>
                          <a:ea typeface="等线" panose="02010600030101010101" pitchFamily="2" charset="-122"/>
                        </a:rPr>
                        <a:t> Local</a:t>
                      </a:r>
                    </a:p>
                  </a:txBody>
                  <a:tcPr marL="7620" marR="7620" marT="762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336.94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2.97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105</a:t>
                      </a:r>
                    </a:p>
                  </a:txBody>
                  <a:tcPr marL="7620" marR="7620" marT="7620"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835089"/>
                  </a:ext>
                </a:extLst>
              </a:tr>
              <a:tr h="609195">
                <a:tc>
                  <a:txBody>
                    <a:bodyPr/>
                    <a:lstStyle/>
                    <a:p>
                      <a:pPr algn="ctr" fontAlgn="ctr">
                        <a:buNone/>
                      </a:pPr>
                      <a:r>
                        <a:rPr lang="en-US" sz="3600" b="0" i="0" u="none" strike="noStrike">
                          <a:solidFill>
                            <a:srgbClr val="000000"/>
                          </a:solidFill>
                          <a:effectLst/>
                          <a:latin typeface="等线" panose="02010600030101010101" pitchFamily="2" charset="-122"/>
                          <a:ea typeface="等线" panose="02010600030101010101" pitchFamily="2" charset="-122"/>
                        </a:rPr>
                        <a:t>Hybrid</a:t>
                      </a:r>
                    </a:p>
                  </a:txBody>
                  <a:tcPr marL="7620" marR="7620" marT="762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47.93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22.55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tc>
                  <a:txBody>
                    <a:bodyPr/>
                    <a:lstStyle/>
                    <a:p>
                      <a:pPr algn="ctr" fontAlgn="ctr">
                        <a:buNone/>
                      </a:pPr>
                      <a:r>
                        <a:rPr lang="en-US" altLang="zh-CN" sz="3600" b="0" i="0" u="none" strike="noStrike">
                          <a:solidFill>
                            <a:srgbClr val="000000"/>
                          </a:solidFill>
                          <a:effectLst/>
                          <a:latin typeface="等线" panose="02010600030101010101" pitchFamily="2" charset="-122"/>
                          <a:ea typeface="等线" panose="02010600030101010101" pitchFamily="2" charset="-122"/>
                        </a:rPr>
                        <a:t>282</a:t>
                      </a:r>
                    </a:p>
                  </a:txBody>
                  <a:tcPr marL="7620" marR="7620" marT="7620"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077732191"/>
                  </a:ext>
                </a:extLst>
              </a:tr>
            </a:tbl>
          </a:graphicData>
        </a:graphic>
      </p:graphicFrame>
      <p:graphicFrame>
        <p:nvGraphicFramePr>
          <p:cNvPr id="8" name="Table 7">
            <a:extLst>
              <a:ext uri="{FF2B5EF4-FFF2-40B4-BE49-F238E27FC236}">
                <a16:creationId xmlns:a16="http://schemas.microsoft.com/office/drawing/2014/main" id="{29A4F39C-DDDB-66BB-48A7-9B958BA0E883}"/>
              </a:ext>
            </a:extLst>
          </p:cNvPr>
          <p:cNvGraphicFramePr>
            <a:graphicFrameLocks noGrp="1"/>
          </p:cNvGraphicFramePr>
          <p:nvPr>
            <p:extLst>
              <p:ext uri="{D42A27DB-BD31-4B8C-83A1-F6EECF244321}">
                <p14:modId xmlns:p14="http://schemas.microsoft.com/office/powerpoint/2010/main" val="1700680493"/>
              </p:ext>
            </p:extLst>
          </p:nvPr>
        </p:nvGraphicFramePr>
        <p:xfrm>
          <a:off x="15591955" y="17514349"/>
          <a:ext cx="12591414" cy="3377075"/>
        </p:xfrm>
        <a:graphic>
          <a:graphicData uri="http://schemas.openxmlformats.org/drawingml/2006/table">
            <a:tbl>
              <a:tblPr>
                <a:tableStyleId>{5C22544A-7EE6-4342-B048-85BDC9FD1C3A}</a:tableStyleId>
              </a:tblPr>
              <a:tblGrid>
                <a:gridCol w="2161540">
                  <a:extLst>
                    <a:ext uri="{9D8B030D-6E8A-4147-A177-3AD203B41FA5}">
                      <a16:colId xmlns:a16="http://schemas.microsoft.com/office/drawing/2014/main" val="3010598986"/>
                    </a:ext>
                  </a:extLst>
                </a:gridCol>
                <a:gridCol w="2507615">
                  <a:extLst>
                    <a:ext uri="{9D8B030D-6E8A-4147-A177-3AD203B41FA5}">
                      <a16:colId xmlns:a16="http://schemas.microsoft.com/office/drawing/2014/main" val="1691297500"/>
                    </a:ext>
                  </a:extLst>
                </a:gridCol>
                <a:gridCol w="1723390">
                  <a:extLst>
                    <a:ext uri="{9D8B030D-6E8A-4147-A177-3AD203B41FA5}">
                      <a16:colId xmlns:a16="http://schemas.microsoft.com/office/drawing/2014/main" val="203307856"/>
                    </a:ext>
                  </a:extLst>
                </a:gridCol>
                <a:gridCol w="1626552">
                  <a:extLst>
                    <a:ext uri="{9D8B030D-6E8A-4147-A177-3AD203B41FA5}">
                      <a16:colId xmlns:a16="http://schemas.microsoft.com/office/drawing/2014/main" val="2844412608"/>
                    </a:ext>
                  </a:extLst>
                </a:gridCol>
                <a:gridCol w="2363152">
                  <a:extLst>
                    <a:ext uri="{9D8B030D-6E8A-4147-A177-3AD203B41FA5}">
                      <a16:colId xmlns:a16="http://schemas.microsoft.com/office/drawing/2014/main" val="3189528125"/>
                    </a:ext>
                  </a:extLst>
                </a:gridCol>
                <a:gridCol w="2209165">
                  <a:extLst>
                    <a:ext uri="{9D8B030D-6E8A-4147-A177-3AD203B41FA5}">
                      <a16:colId xmlns:a16="http://schemas.microsoft.com/office/drawing/2014/main" val="206802714"/>
                    </a:ext>
                  </a:extLst>
                </a:gridCol>
              </a:tblGrid>
              <a:tr h="845984">
                <a:tc>
                  <a:txBody>
                    <a:bodyPr/>
                    <a:lstStyle/>
                    <a:p>
                      <a:pPr marL="0" algn="ctr" defTabSz="4389120" rtl="0" eaLnBrk="1" fontAlgn="ctr" latinLnBrk="0" hangingPunct="1">
                        <a:buNone/>
                      </a:pPr>
                      <a:r>
                        <a:rPr lang="en-US" sz="3600" b="1" i="0" u="none" strike="noStrike" kern="1200">
                          <a:solidFill>
                            <a:srgbClr val="000000"/>
                          </a:solidFill>
                          <a:effectLst/>
                          <a:latin typeface="等线" panose="02010600030101010101" pitchFamily="2" charset="-122"/>
                          <a:ea typeface="等线" panose="02010600030101010101" pitchFamily="2" charset="-122"/>
                          <a:cs typeface="+mn-cs"/>
                        </a:rPr>
                        <a:t>Model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algn="ctr" defTabSz="4389120" rtl="0" eaLnBrk="1" fontAlgn="ctr" latinLnBrk="0" hangingPunct="1">
                        <a:buNone/>
                      </a:pPr>
                      <a:r>
                        <a:rPr lang="en-US" sz="3600" b="1" i="0" u="none" strike="noStrike" kern="1200">
                          <a:solidFill>
                            <a:srgbClr val="000000"/>
                          </a:solidFill>
                          <a:effectLst/>
                          <a:latin typeface="等线" panose="02010600030101010101" pitchFamily="2" charset="-122"/>
                          <a:ea typeface="等线" panose="02010600030101010101" pitchFamily="2" charset="-122"/>
                          <a:cs typeface="+mn-cs"/>
                        </a:rPr>
                        <a:t>Params (M)</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algn="ctr" defTabSz="4389120" rtl="0" eaLnBrk="1" fontAlgn="ctr" latinLnBrk="0" hangingPunct="1">
                        <a:buNone/>
                      </a:pPr>
                      <a:r>
                        <a:rPr lang="en-US" sz="3600" b="1" i="0" u="none" strike="noStrike" kern="1200">
                          <a:solidFill>
                            <a:srgbClr val="000000"/>
                          </a:solidFill>
                          <a:effectLst/>
                          <a:latin typeface="等线" panose="02010600030101010101" pitchFamily="2" charset="-122"/>
                          <a:ea typeface="等线" panose="02010600030101010101" pitchFamily="2" charset="-122"/>
                          <a:cs typeface="+mn-cs"/>
                        </a:rPr>
                        <a:t>GFLOPs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algn="ctr" defTabSz="4389120" rtl="0" eaLnBrk="1" fontAlgn="ctr" latinLnBrk="0" hangingPunct="1">
                        <a:buNone/>
                      </a:pPr>
                      <a:r>
                        <a:rPr lang="en-US" sz="3600" b="1" i="0" u="none" strike="noStrike" kern="1200">
                          <a:solidFill>
                            <a:srgbClr val="000000"/>
                          </a:solidFill>
                          <a:effectLst/>
                          <a:latin typeface="等线" panose="02010600030101010101" pitchFamily="2" charset="-122"/>
                          <a:ea typeface="等线" panose="02010600030101010101" pitchFamily="2" charset="-122"/>
                          <a:cs typeface="+mn-cs"/>
                        </a:rPr>
                        <a:t>mAP50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algn="ctr" defTabSz="4389120" rtl="0" eaLnBrk="1" fontAlgn="ctr" latinLnBrk="0" hangingPunct="1">
                        <a:buNone/>
                      </a:pPr>
                      <a:r>
                        <a:rPr lang="en-US" sz="3600" b="1" i="0" u="none" strike="noStrike" kern="1200">
                          <a:solidFill>
                            <a:srgbClr val="000000"/>
                          </a:solidFill>
                          <a:effectLst/>
                          <a:latin typeface="等线" panose="02010600030101010101" pitchFamily="2" charset="-122"/>
                          <a:ea typeface="等线" panose="02010600030101010101" pitchFamily="2" charset="-122"/>
                          <a:cs typeface="+mn-cs"/>
                        </a:rPr>
                        <a:t>mAP50-95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algn="ctr" defTabSz="4389120" rtl="0" eaLnBrk="1" fontAlgn="ctr" latinLnBrk="0" hangingPunct="1">
                        <a:buNone/>
                      </a:pPr>
                      <a:r>
                        <a:rPr lang="en-US" sz="3600" b="1" i="0" u="none" strike="noStrike" kern="1200">
                          <a:solidFill>
                            <a:srgbClr val="000000"/>
                          </a:solidFill>
                          <a:effectLst/>
                          <a:latin typeface="等线" panose="02010600030101010101" pitchFamily="2" charset="-122"/>
                          <a:ea typeface="等线" panose="02010600030101010101" pitchFamily="2" charset="-122"/>
                          <a:cs typeface="+mn-cs"/>
                        </a:rPr>
                        <a:t>Infer (</a:t>
                      </a:r>
                      <a:r>
                        <a:rPr lang="en-US" sz="3600" b="1" i="0" u="none" strike="noStrike" kern="1200" err="1">
                          <a:solidFill>
                            <a:srgbClr val="000000"/>
                          </a:solidFill>
                          <a:effectLst/>
                          <a:latin typeface="等线" panose="02010600030101010101" pitchFamily="2" charset="-122"/>
                          <a:ea typeface="等线" panose="02010600030101010101" pitchFamily="2" charset="-122"/>
                          <a:cs typeface="+mn-cs"/>
                        </a:rPr>
                        <a:t>ms</a:t>
                      </a:r>
                      <a:r>
                        <a:rPr lang="en-US" sz="3600" b="1" i="0" u="none" strike="noStrike" kern="1200">
                          <a:solidFill>
                            <a:srgbClr val="000000"/>
                          </a:solidFill>
                          <a:effectLst/>
                          <a:latin typeface="等线" panose="02010600030101010101" pitchFamily="2" charset="-122"/>
                          <a:ea typeface="等线" panose="02010600030101010101" pitchFamily="2" charset="-122"/>
                          <a:cs typeface="+mn-cs"/>
                        </a:rPr>
                        <a: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220648646"/>
                  </a:ext>
                </a:extLst>
              </a:tr>
              <a:tr h="520961">
                <a:tc>
                  <a:txBody>
                    <a:bodyPr/>
                    <a:lstStyle/>
                    <a:p>
                      <a:pPr marL="0" algn="ctr" defTabSz="4389120" rtl="0" eaLnBrk="1" fontAlgn="ctr" latinLnBrk="0" hangingPunct="1">
                        <a:buNone/>
                      </a:pPr>
                      <a:r>
                        <a:rPr lang="en-US" sz="3600" b="0" i="0" u="none" strike="noStrike" kern="1200">
                          <a:solidFill>
                            <a:srgbClr val="000000"/>
                          </a:solidFill>
                          <a:effectLst/>
                          <a:latin typeface="等线" panose="02010600030101010101" pitchFamily="2" charset="-122"/>
                          <a:ea typeface="等线" panose="02010600030101010101" pitchFamily="2" charset="-122"/>
                          <a:cs typeface="+mn-cs"/>
                        </a:rPr>
                        <a:t>YOLOv8n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3.01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8.1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81%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51.3%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92281890"/>
                  </a:ext>
                </a:extLst>
              </a:tr>
              <a:tr h="618316">
                <a:tc>
                  <a:txBody>
                    <a:bodyPr/>
                    <a:lstStyle/>
                    <a:p>
                      <a:pPr marL="0" algn="ctr" defTabSz="4389120" rtl="0" eaLnBrk="1" fontAlgn="ctr" latinLnBrk="0" hangingPunct="1">
                        <a:buNone/>
                      </a:pPr>
                      <a:r>
                        <a:rPr lang="en-US" sz="3600" b="0" i="0" u="none" strike="noStrike" kern="1200">
                          <a:solidFill>
                            <a:srgbClr val="000000"/>
                          </a:solidFill>
                          <a:effectLst/>
                          <a:latin typeface="等线" panose="02010600030101010101" pitchFamily="2" charset="-122"/>
                          <a:ea typeface="等线" panose="02010600030101010101" pitchFamily="2" charset="-122"/>
                          <a:cs typeface="+mn-cs"/>
                        </a:rPr>
                        <a:t>YOLOv8s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11.13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28.4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82%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52.3%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58467805"/>
                  </a:ext>
                </a:extLst>
              </a:tr>
              <a:tr h="800255">
                <a:tc>
                  <a:txBody>
                    <a:bodyPr/>
                    <a:lstStyle/>
                    <a:p>
                      <a:pPr marL="0" algn="ctr" defTabSz="4389120" rtl="0" eaLnBrk="1" fontAlgn="ctr" latinLnBrk="0" hangingPunct="1">
                        <a:buNone/>
                      </a:pPr>
                      <a:r>
                        <a:rPr lang="en-US" sz="3600" b="0" i="0" u="none" strike="noStrike" kern="1200">
                          <a:solidFill>
                            <a:srgbClr val="000000"/>
                          </a:solidFill>
                          <a:effectLst/>
                          <a:latin typeface="等线" panose="02010600030101010101" pitchFamily="2" charset="-122"/>
                          <a:ea typeface="等线" panose="02010600030101010101" pitchFamily="2" charset="-122"/>
                          <a:cs typeface="+mn-cs"/>
                        </a:rPr>
                        <a:t>YOLO26n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2.38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5.2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84%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54.3%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0.8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82111422"/>
                  </a:ext>
                </a:extLst>
              </a:tr>
              <a:tr h="422992">
                <a:tc>
                  <a:txBody>
                    <a:bodyPr/>
                    <a:lstStyle/>
                    <a:p>
                      <a:pPr marL="0" algn="ctr" defTabSz="4389120" rtl="0" eaLnBrk="1" fontAlgn="ctr" latinLnBrk="0" hangingPunct="1">
                        <a:buNone/>
                      </a:pPr>
                      <a:r>
                        <a:rPr lang="en-US" sz="3600" b="0" i="0" u="none" strike="noStrike" kern="1200">
                          <a:solidFill>
                            <a:srgbClr val="000000"/>
                          </a:solidFill>
                          <a:effectLst/>
                          <a:latin typeface="等线" panose="02010600030101010101" pitchFamily="2" charset="-122"/>
                          <a:ea typeface="等线" panose="02010600030101010101" pitchFamily="2" charset="-122"/>
                          <a:cs typeface="+mn-cs"/>
                        </a:rPr>
                        <a:t>YOLO26m</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20.35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67.8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83%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51.0%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algn="ctr" defTabSz="4389120" rtl="0" eaLnBrk="1" fontAlgn="ctr" latinLnBrk="0" hangingPunct="1">
                        <a:buNone/>
                      </a:pPr>
                      <a:r>
                        <a:rPr lang="en-US" altLang="zh-CN" sz="3600" b="0" i="0" u="none" strike="noStrike" kern="1200">
                          <a:solidFill>
                            <a:srgbClr val="000000"/>
                          </a:solidFill>
                          <a:effectLst/>
                          <a:latin typeface="等线" panose="02010600030101010101" pitchFamily="2" charset="-122"/>
                          <a:ea typeface="等线" panose="02010600030101010101" pitchFamily="2" charset="-122"/>
                          <a:cs typeface="+mn-cs"/>
                        </a:rPr>
                        <a:t>2.9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04140831"/>
                  </a:ext>
                </a:extLst>
              </a:tr>
            </a:tbl>
          </a:graphicData>
        </a:graphic>
      </p:graphicFrame>
      <p:sp>
        <p:nvSpPr>
          <p:cNvPr id="10" name="TextBox 9">
            <a:extLst>
              <a:ext uri="{FF2B5EF4-FFF2-40B4-BE49-F238E27FC236}">
                <a16:creationId xmlns:a16="http://schemas.microsoft.com/office/drawing/2014/main" id="{BAB9E0FB-871F-C4A9-A796-CFF4F435F3EB}"/>
              </a:ext>
            </a:extLst>
          </p:cNvPr>
          <p:cNvSpPr txBox="1"/>
          <p:nvPr/>
        </p:nvSpPr>
        <p:spPr>
          <a:xfrm>
            <a:off x="16219864" y="21048163"/>
            <a:ext cx="11029950"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3200">
                <a:solidFill>
                  <a:schemeClr val="bg1">
                    <a:lumMod val="50000"/>
                  </a:schemeClr>
                </a:solidFill>
                <a:latin typeface="Calibri"/>
                <a:ea typeface="Calibri"/>
                <a:cs typeface="Calibri"/>
              </a:rPr>
              <a:t>Table 1: Comparison of Lightweight Detection Models. </a:t>
            </a:r>
            <a:endParaRPr lang="en-GB" sz="3200">
              <a:solidFill>
                <a:schemeClr val="bg1">
                  <a:lumMod val="50000"/>
                </a:schemeClr>
              </a:solidFill>
              <a:latin typeface="Calibri"/>
              <a:ea typeface="Calibri"/>
              <a:cs typeface="Calibri"/>
            </a:endParaRPr>
          </a:p>
        </p:txBody>
      </p:sp>
      <p:sp>
        <p:nvSpPr>
          <p:cNvPr id="12" name="TextBox 11">
            <a:extLst>
              <a:ext uri="{FF2B5EF4-FFF2-40B4-BE49-F238E27FC236}">
                <a16:creationId xmlns:a16="http://schemas.microsoft.com/office/drawing/2014/main" id="{C03EF943-43C9-A0C5-1218-D27A3FFC0483}"/>
              </a:ext>
            </a:extLst>
          </p:cNvPr>
          <p:cNvSpPr txBox="1"/>
          <p:nvPr/>
        </p:nvSpPr>
        <p:spPr>
          <a:xfrm>
            <a:off x="16485607" y="30501582"/>
            <a:ext cx="11029950"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3200">
                <a:solidFill>
                  <a:schemeClr val="bg1">
                    <a:lumMod val="50000"/>
                  </a:schemeClr>
                </a:solidFill>
                <a:latin typeface="Calibri"/>
                <a:ea typeface="Calibri"/>
                <a:cs typeface="Calibri"/>
              </a:rPr>
              <a:t>Table 2:  Deployment Performance Comparison on Raspberry Pi 5</a:t>
            </a:r>
            <a:endParaRPr lang="en-GB" sz="3200">
              <a:solidFill>
                <a:schemeClr val="bg1">
                  <a:lumMod val="50000"/>
                </a:schemeClr>
              </a:solidFill>
              <a:latin typeface="Calibri"/>
              <a:ea typeface="Calibri"/>
              <a:cs typeface="Calibri"/>
            </a:endParaRPr>
          </a:p>
        </p:txBody>
      </p:sp>
      <p:sp>
        <p:nvSpPr>
          <p:cNvPr id="39" name="TextBox 38">
            <a:extLst>
              <a:ext uri="{FF2B5EF4-FFF2-40B4-BE49-F238E27FC236}">
                <a16:creationId xmlns:a16="http://schemas.microsoft.com/office/drawing/2014/main" id="{6D20601A-419E-9096-558D-0F9B89506648}"/>
              </a:ext>
            </a:extLst>
          </p:cNvPr>
          <p:cNvSpPr txBox="1"/>
          <p:nvPr/>
        </p:nvSpPr>
        <p:spPr>
          <a:xfrm>
            <a:off x="15374149" y="21557469"/>
            <a:ext cx="13073638" cy="50167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just"/>
            <a:r>
              <a:rPr lang="en-US" altLang="zh-CN" sz="4000" b="1"/>
              <a:t>Table 1 </a:t>
            </a:r>
            <a:r>
              <a:rPr lang="en-US" altLang="zh-CN" sz="4000"/>
              <a:t>reports our experimental results, while Params and GFLOPs are taken from the corresponding references [1]–[4]. YOLO26n was selected as the primary deployment model because it achieved the best balance between accuracy and efficiency. </a:t>
            </a:r>
            <a:r>
              <a:rPr lang="en-US" altLang="zh-CN" sz="4000" b="1"/>
              <a:t>Table 2 </a:t>
            </a:r>
            <a:r>
              <a:rPr lang="en-US" altLang="zh-CN" sz="4000"/>
              <a:t>compares deployment performance on Raspberry Pi 5. ONNX was the strongest local option, while hybrid deployment delivered the best overall real-time responsiveness.</a:t>
            </a:r>
            <a:endParaRPr lang="en-US" sz="3600">
              <a:solidFill>
                <a:srgbClr val="0F1115"/>
              </a:solidFill>
              <a:latin typeface="Calibri"/>
              <a:ea typeface="Calibri"/>
              <a:cs typeface="Calibri"/>
            </a:endParaRPr>
          </a:p>
        </p:txBody>
      </p:sp>
      <p:sp>
        <p:nvSpPr>
          <p:cNvPr id="44" name="TextBox 43">
            <a:extLst>
              <a:ext uri="{FF2B5EF4-FFF2-40B4-BE49-F238E27FC236}">
                <a16:creationId xmlns:a16="http://schemas.microsoft.com/office/drawing/2014/main" id="{9260E1B2-F3E4-C5FC-0777-7FEC74AC5DF7}"/>
              </a:ext>
            </a:extLst>
          </p:cNvPr>
          <p:cNvSpPr txBox="1"/>
          <p:nvPr/>
        </p:nvSpPr>
        <p:spPr>
          <a:xfrm>
            <a:off x="29027537" y="25235051"/>
            <a:ext cx="12655863" cy="6001643"/>
          </a:xfrm>
          <a:prstGeom prst="rect">
            <a:avLst/>
          </a:prstGeom>
          <a:noFill/>
        </p:spPr>
        <p:txBody>
          <a:bodyPr wrap="square">
            <a:spAutoFit/>
          </a:bodyPr>
          <a:lstStyle/>
          <a:p>
            <a:r>
              <a:rPr lang="en-US" altLang="zh-CN" sz="3200" dirty="0"/>
              <a:t>[1] M. Yaseen, “What is YOLOv8: An In-Depth Exploration of the Internal Features of the Next-Generation Object Detector,” </a:t>
            </a:r>
            <a:r>
              <a:rPr lang="en-US" altLang="zh-CN" sz="3200" dirty="0" err="1"/>
              <a:t>arXiv</a:t>
            </a:r>
            <a:r>
              <a:rPr lang="en-US" altLang="zh-CN" sz="3200" dirty="0"/>
              <a:t> preprint arXiv:2408.15857, 2024. </a:t>
            </a:r>
          </a:p>
          <a:p>
            <a:r>
              <a:rPr lang="en-US" altLang="zh-CN" sz="3200" dirty="0"/>
              <a:t>[2] R. Sapkota, R. H. </a:t>
            </a:r>
            <a:r>
              <a:rPr lang="en-US" altLang="zh-CN" sz="3200" dirty="0" err="1"/>
              <a:t>Cheppally</a:t>
            </a:r>
            <a:r>
              <a:rPr lang="en-US" altLang="zh-CN" sz="3200" dirty="0"/>
              <a:t>, A. Sharda, and M. </a:t>
            </a:r>
            <a:r>
              <a:rPr lang="en-US" altLang="zh-CN" sz="3200" dirty="0" err="1"/>
              <a:t>Karkee</a:t>
            </a:r>
            <a:r>
              <a:rPr lang="en-US" altLang="zh-CN" sz="3200" dirty="0"/>
              <a:t>, “YOLO26: Key Architectural Enhancements and Performance Benchmarking for Real-Time Object Detection,” </a:t>
            </a:r>
            <a:r>
              <a:rPr lang="en-US" altLang="zh-CN" sz="3200" dirty="0" err="1"/>
              <a:t>arXiv</a:t>
            </a:r>
            <a:r>
              <a:rPr lang="en-US" altLang="zh-CN" sz="3200" dirty="0"/>
              <a:t> preprint arXiv:2509.25164, 2025. </a:t>
            </a:r>
          </a:p>
          <a:p>
            <a:r>
              <a:rPr lang="en-US" altLang="zh-CN" sz="3200" dirty="0"/>
              <a:t>[3] L. Wang, Y. Wang, and Y. Cui, “A systematic literature review of lightweight YOLO models for object detection,” </a:t>
            </a:r>
            <a:r>
              <a:rPr lang="en-US" altLang="zh-CN" sz="3200" dirty="0" err="1"/>
              <a:t>PeerJ</a:t>
            </a:r>
            <a:r>
              <a:rPr lang="en-US" altLang="zh-CN" sz="3200" dirty="0"/>
              <a:t> Computer Science, 2025. </a:t>
            </a:r>
          </a:p>
          <a:p>
            <a:r>
              <a:rPr lang="en-US" altLang="zh-CN" sz="3200" dirty="0"/>
              <a:t>[4] L. </a:t>
            </a:r>
            <a:r>
              <a:rPr lang="en-US" altLang="zh-CN" sz="3200" dirty="0" err="1"/>
              <a:t>Alashrafi</a:t>
            </a:r>
            <a:r>
              <a:rPr lang="en-US" altLang="zh-CN" sz="3200" dirty="0"/>
              <a:t>, A. H. Al-</a:t>
            </a:r>
            <a:r>
              <a:rPr lang="en-US" altLang="zh-CN" sz="3200" dirty="0" err="1"/>
              <a:t>Hababi</a:t>
            </a:r>
            <a:r>
              <a:rPr lang="en-US" altLang="zh-CN" sz="3200" dirty="0"/>
              <a:t>, M. A. </a:t>
            </a:r>
            <a:r>
              <a:rPr lang="en-US" altLang="zh-CN" sz="3200" dirty="0" err="1"/>
              <a:t>Harfoushi</a:t>
            </a:r>
            <a:r>
              <a:rPr lang="en-US" altLang="zh-CN" sz="3200" dirty="0"/>
              <a:t>, and M. A. M. Alhaddad, “Benchmarking Lightweight YOLO Object Detectors for Real-Time Applications,” Sensors, vol. 25, no. 19, 6140, 2025.</a:t>
            </a:r>
            <a:endParaRPr lang="zh-CN" altLang="en-US" sz="3200" dirty="0"/>
          </a:p>
        </p:txBody>
      </p:sp>
      <p:sp>
        <p:nvSpPr>
          <p:cNvPr id="46" name="TextBox 45">
            <a:extLst>
              <a:ext uri="{FF2B5EF4-FFF2-40B4-BE49-F238E27FC236}">
                <a16:creationId xmlns:a16="http://schemas.microsoft.com/office/drawing/2014/main" id="{5DBBD3B3-C11B-7766-4370-D84D4BD5B5A1}"/>
              </a:ext>
            </a:extLst>
          </p:cNvPr>
          <p:cNvSpPr txBox="1"/>
          <p:nvPr/>
        </p:nvSpPr>
        <p:spPr>
          <a:xfrm>
            <a:off x="28931039" y="17871619"/>
            <a:ext cx="13073638" cy="62478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just"/>
            <a:r>
              <a:rPr lang="en-US" altLang="zh-CN" sz="4000"/>
              <a:t>Overall, YOLOv26n was selected as the primary deployment model because it provided the best balance between accuracy and efficiency among the tested lightweight detectors. ONNX was the most effective local deployment format on Raspberry Pi 5, while the hybrid approach achieved the best overall real-time performance with the highest FPS and lowest latency. These results demonstrate that lightweight pothole detection can be deployed effectively in a Raspberry Pi–centered system, while also highlighting the practical trade-off between fully local inference and hybrid real-time responsiveness.</a:t>
            </a:r>
            <a:endParaRPr lang="en-US" sz="3600">
              <a:solidFill>
                <a:srgbClr val="0F1115"/>
              </a:solidFill>
              <a:latin typeface="Calibri"/>
              <a:ea typeface="Calibri"/>
              <a:cs typeface="Calibri"/>
            </a:endParaRPr>
          </a:p>
        </p:txBody>
      </p:sp>
      <p:pic>
        <p:nvPicPr>
          <p:cNvPr id="3" name="Picture 2" descr="A diagram of a training program&#10;&#10;AI-generated content may be incorrect.">
            <a:extLst>
              <a:ext uri="{FF2B5EF4-FFF2-40B4-BE49-F238E27FC236}">
                <a16:creationId xmlns:a16="http://schemas.microsoft.com/office/drawing/2014/main" id="{334EEB0C-C9EA-38CD-E842-4B295EE82536}"/>
              </a:ext>
            </a:extLst>
          </p:cNvPr>
          <p:cNvPicPr>
            <a:picLocks noChangeAspect="1"/>
          </p:cNvPicPr>
          <p:nvPr/>
        </p:nvPicPr>
        <p:blipFill>
          <a:blip r:embed="rId8"/>
          <a:stretch>
            <a:fillRect/>
          </a:stretch>
        </p:blipFill>
        <p:spPr>
          <a:xfrm>
            <a:off x="15934065" y="8420100"/>
            <a:ext cx="11333288" cy="7150509"/>
          </a:xfrm>
          <a:prstGeom prst="rect">
            <a:avLst/>
          </a:prstGeom>
        </p:spPr>
      </p:pic>
      <p:pic>
        <p:nvPicPr>
          <p:cNvPr id="37" name="Picture 36">
            <a:extLst>
              <a:ext uri="{FF2B5EF4-FFF2-40B4-BE49-F238E27FC236}">
                <a16:creationId xmlns:a16="http://schemas.microsoft.com/office/drawing/2014/main" id="{4C648DA2-BE84-DEEB-BA9C-9064DC602E72}"/>
              </a:ext>
            </a:extLst>
          </p:cNvPr>
          <p:cNvPicPr>
            <a:picLocks noChangeAspect="1"/>
          </p:cNvPicPr>
          <p:nvPr/>
        </p:nvPicPr>
        <p:blipFill>
          <a:blip r:embed="rId9"/>
          <a:stretch>
            <a:fillRect/>
          </a:stretch>
        </p:blipFill>
        <p:spPr>
          <a:xfrm>
            <a:off x="34639179" y="8794243"/>
            <a:ext cx="7240929" cy="7092815"/>
          </a:xfrm>
          <a:prstGeom prst="rect">
            <a:avLst/>
          </a:prstGeom>
        </p:spPr>
      </p:pic>
      <p:pic>
        <p:nvPicPr>
          <p:cNvPr id="4" name="图片 3" descr="桌子上放着打开的笔记本电脑&#10;&#10;AI 生成的内容可能不正确。">
            <a:extLst>
              <a:ext uri="{FF2B5EF4-FFF2-40B4-BE49-F238E27FC236}">
                <a16:creationId xmlns:a16="http://schemas.microsoft.com/office/drawing/2014/main" id="{29C3FD73-1538-80EF-305A-AC27F6135B58}"/>
              </a:ext>
            </a:extLst>
          </p:cNvPr>
          <p:cNvPicPr>
            <a:picLocks noChangeAspect="1"/>
          </p:cNvPicPr>
          <p:nvPr/>
        </p:nvPicPr>
        <p:blipFill>
          <a:blip r:embed="rId10"/>
          <a:stretch>
            <a:fillRect/>
          </a:stretch>
        </p:blipFill>
        <p:spPr>
          <a:xfrm>
            <a:off x="29502755" y="8778678"/>
            <a:ext cx="5167541" cy="3754436"/>
          </a:xfrm>
          <a:prstGeom prst="rect">
            <a:avLst/>
          </a:prstGeom>
        </p:spPr>
      </p:pic>
      <p:pic>
        <p:nvPicPr>
          <p:cNvPr id="13" name="图片 12" descr="图形用户界面, 应用程序&#10;&#10;AI 生成的内容可能不正确。">
            <a:extLst>
              <a:ext uri="{FF2B5EF4-FFF2-40B4-BE49-F238E27FC236}">
                <a16:creationId xmlns:a16="http://schemas.microsoft.com/office/drawing/2014/main" id="{3EABCDE1-2B7F-6D3C-8FA7-7BFF43B5B312}"/>
              </a:ext>
            </a:extLst>
          </p:cNvPr>
          <p:cNvPicPr>
            <a:picLocks noChangeAspect="1"/>
          </p:cNvPicPr>
          <p:nvPr/>
        </p:nvPicPr>
        <p:blipFill>
          <a:blip r:embed="rId11"/>
          <a:stretch>
            <a:fillRect/>
          </a:stretch>
        </p:blipFill>
        <p:spPr>
          <a:xfrm>
            <a:off x="29508762" y="12476806"/>
            <a:ext cx="5155534" cy="3409297"/>
          </a:xfrm>
          <a:prstGeom prst="rect">
            <a:avLst/>
          </a:prstGeom>
        </p:spPr>
      </p:pic>
    </p:spTree>
    <p:extLst>
      <p:ext uri="{BB962C8B-B14F-4D97-AF65-F5344CB8AC3E}">
        <p14:creationId xmlns:p14="http://schemas.microsoft.com/office/powerpoint/2010/main" val="66456436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E52FAD06798C34191F0DC2CAF4DDA09" ma:contentTypeVersion="14" ma:contentTypeDescription="Create a new document." ma:contentTypeScope="" ma:versionID="86d9b9dc86a38fb2187bb8b406131c8d">
  <xsd:schema xmlns:xsd="http://www.w3.org/2001/XMLSchema" xmlns:xs="http://www.w3.org/2001/XMLSchema" xmlns:p="http://schemas.microsoft.com/office/2006/metadata/properties" xmlns:ns2="602e9166-a841-4faa-96c2-a9edacb68fd6" xmlns:ns3="e4e83fa3-51d0-4fa3-8164-1af4ff9dc403" targetNamespace="http://schemas.microsoft.com/office/2006/metadata/properties" ma:root="true" ma:fieldsID="e2941dae4a928c8f440b63b063eeab40" ns2:_="" ns3:_="">
    <xsd:import namespace="602e9166-a841-4faa-96c2-a9edacb68fd6"/>
    <xsd:import namespace="e4e83fa3-51d0-4fa3-8164-1af4ff9dc40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TaxCatchAll"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2e9166-a841-4faa-96c2-a9edacb68f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c75af492-d9e2-4351-ba53-96ad96eff25a"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83fa3-51d0-4fa3-8164-1af4ff9dc403"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ca462def-1d1c-44d6-b303-514e6de59f73}" ma:internalName="TaxCatchAll" ma:showField="CatchAllData" ma:web="e4e83fa3-51d0-4fa3-8164-1af4ff9dc40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4e83fa3-51d0-4fa3-8164-1af4ff9dc403" xsi:nil="true"/>
    <lcf76f155ced4ddcb4097134ff3c332f xmlns="602e9166-a841-4faa-96c2-a9edacb68fd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480E9A0-81FC-43D7-B399-F6F2BEF172A3}">
  <ds:schemaRefs>
    <ds:schemaRef ds:uri="602e9166-a841-4faa-96c2-a9edacb68fd6"/>
    <ds:schemaRef ds:uri="e4e83fa3-51d0-4fa3-8164-1af4ff9dc40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626B7FB-9E38-4BE8-815C-749652A6352D}">
  <ds:schemaRefs>
    <ds:schemaRef ds:uri="http://schemas.microsoft.com/sharepoint/v3/contenttype/forms"/>
  </ds:schemaRefs>
</ds:datastoreItem>
</file>

<file path=customXml/itemProps3.xml><?xml version="1.0" encoding="utf-8"?>
<ds:datastoreItem xmlns:ds="http://schemas.openxmlformats.org/officeDocument/2006/customXml" ds:itemID="{33D81697-4FBF-425A-B176-3B16FC318427}">
  <ds:schemaRefs>
    <ds:schemaRef ds:uri="602e9166-a841-4faa-96c2-a9edacb68fd6"/>
    <ds:schemaRef ds:uri="e4e83fa3-51d0-4fa3-8164-1af4ff9dc40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42</TotalTime>
  <Words>696</Words>
  <Application>Microsoft Office PowerPoint</Application>
  <PresentationFormat>Custom</PresentationFormat>
  <Paragraphs>123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等线</vt:lpstr>
      <vt:lpstr>Arial</vt:lpstr>
      <vt:lpstr>Calibri</vt:lpstr>
      <vt:lpstr>Calibri Light</vt:lpstr>
      <vt:lpstr>Office Theme</vt:lpstr>
      <vt:lpstr>Portable Hybrid Edge-AI System for Pothole Detection Xinyang Zhang, Osama Najeeb, Avishek Mukherjee, Ph.D. Department of Electrical and Computer Engineering and Computer Science  University of Detroit Mercy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Xinyang Zhang</cp:lastModifiedBy>
  <cp:revision>28</cp:revision>
  <dcterms:created xsi:type="dcterms:W3CDTF">2025-10-03T16:51:18Z</dcterms:created>
  <dcterms:modified xsi:type="dcterms:W3CDTF">2026-04-03T06:10:50Z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0x0101000E52FAD06798C34191F0DC2CAF4DDA09</vt:lpwstr>
  </property>
  <property fmtid="{D5CDD505-2E9C-101B-9397-08002B2CF9AE}" pid="3" name="MediaServiceImageTags">
    <vt:lpwstr/>
  </property>
</Properties>
</file>